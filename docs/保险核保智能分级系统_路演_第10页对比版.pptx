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b61c97e4cb4c50" /><Relationship Type="http://schemas.openxmlformats.org/officeDocument/2006/relationships/extended-properties" Target="/docProps/app.xml" Id="R37f9777be26c42b5" /><Relationship Type="http://schemas.openxmlformats.org/officeDocument/2006/relationships/officeDocument" Target="/ppt/presentation.xml" Id="R2d62728e99704f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8006e007564bc6"/>
  </p:sldMasterIdLst>
  <p:notesMasterIdLst>
    <p:notesMasterId xmlns:r="http://schemas.openxmlformats.org/officeDocument/2006/relationships" r:id="Ree5785078d154069"/>
  </p:notesMasterIdLst>
  <p:sldIdLst>
    <p:sldId xmlns:r="http://schemas.openxmlformats.org/officeDocument/2006/relationships" id="256" r:id="R292acaca577b415a"/>
    <p:sldId xmlns:r="http://schemas.openxmlformats.org/officeDocument/2006/relationships" id="257" r:id="R2cd8202e74c44a40"/>
    <p:sldId xmlns:r="http://schemas.openxmlformats.org/officeDocument/2006/relationships" id="258" r:id="Rd7752c04a2e04092"/>
    <p:sldId xmlns:r="http://schemas.openxmlformats.org/officeDocument/2006/relationships" id="259" r:id="R445e7d19b48741f5"/>
    <p:sldId xmlns:r="http://schemas.openxmlformats.org/officeDocument/2006/relationships" id="260" r:id="Rc055d7216bf34e20"/>
    <p:sldId xmlns:r="http://schemas.openxmlformats.org/officeDocument/2006/relationships" id="261" r:id="Rdf7c5760cfc241b3"/>
    <p:sldId xmlns:r="http://schemas.openxmlformats.org/officeDocument/2006/relationships" id="262" r:id="R70f493f117414ce9"/>
    <p:sldId xmlns:r="http://schemas.openxmlformats.org/officeDocument/2006/relationships" id="263" r:id="Re725cda21a264975"/>
    <p:sldId xmlns:r="http://schemas.openxmlformats.org/officeDocument/2006/relationships" id="264" r:id="R11177aba6c674ee9"/>
    <p:sldId xmlns:r="http://schemas.openxmlformats.org/officeDocument/2006/relationships" id="265" r:id="R8fba160d62234a9e"/>
    <p:sldId xmlns:r="http://schemas.openxmlformats.org/officeDocument/2006/relationships" id="266" r:id="R28c7a8bf49d443d8"/>
    <p:sldId xmlns:r="http://schemas.openxmlformats.org/officeDocument/2006/relationships" id="267" r:id="R061e146779644b67"/>
    <p:sldId xmlns:r="http://schemas.openxmlformats.org/officeDocument/2006/relationships" id="268" r:id="Rd592df91956d4977"/>
    <p:sldId xmlns:r="http://schemas.openxmlformats.org/officeDocument/2006/relationships" id="269" r:id="R4081722f97e8443d"/>
    <p:sldId xmlns:r="http://schemas.openxmlformats.org/officeDocument/2006/relationships" id="270" r:id="Rbe2fd01ff7c74934"/>
    <p:sldId xmlns:r="http://schemas.openxmlformats.org/officeDocument/2006/relationships" id="271" r:id="R7310533d9e4843e1"/>
    <p:sldId xmlns:r="http://schemas.openxmlformats.org/officeDocument/2006/relationships" id="272" r:id="Rfebeed12fd18414a"/>
    <p:sldId xmlns:r="http://schemas.openxmlformats.org/officeDocument/2006/relationships" id="273" r:id="Rd33143c398cf4563"/>
    <p:sldId xmlns:r="http://schemas.openxmlformats.org/officeDocument/2006/relationships" id="274" r:id="Rd2296bd139404832"/>
    <p:sldId xmlns:r="http://schemas.openxmlformats.org/officeDocument/2006/relationships" id="275" r:id="Rfe566742c56b477c"/>
    <p:sldId xmlns:r="http://schemas.openxmlformats.org/officeDocument/2006/relationships" id="276" r:id="Rd8931bf23fc442ad"/>
    <p:sldId xmlns:r="http://schemas.openxmlformats.org/officeDocument/2006/relationships" id="277" r:id="Rd95af5c4cdf84726"/>
    <p:sldId xmlns:r="http://schemas.openxmlformats.org/officeDocument/2006/relationships" id="278" r:id="R4365795f7c7144d5"/>
    <p:sldId xmlns:r="http://schemas.openxmlformats.org/officeDocument/2006/relationships" id="279" r:id="R63d1efe1d1984a59"/>
  </p:sldIdLst>
  <p:sldSz cx="1218882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9036e80e554562" /><Relationship Type="http://schemas.openxmlformats.org/officeDocument/2006/relationships/slideMaster" Target="/ppt/slideMasters/slideMaster1.xml" Id="R108006e007564bc6" /><Relationship Type="http://schemas.openxmlformats.org/officeDocument/2006/relationships/notesMaster" Target="/ppt/notesMasters/notesMaster1.xml" Id="Ree5785078d154069" /><Relationship Type="http://schemas.openxmlformats.org/officeDocument/2006/relationships/presProps" Target="/ppt/presProps.xml" Id="R82758efcc3e548f7" /><Relationship Type="http://schemas.openxmlformats.org/officeDocument/2006/relationships/viewProps" Target="/ppt/viewProps.xml" Id="Rd43eaf6c973d4b4a" /><Relationship Type="http://schemas.openxmlformats.org/officeDocument/2006/relationships/tableStyles" Target="/ppt/tableStyles.xml" Id="R78887732c4d64547" /><Relationship Type="http://schemas.openxmlformats.org/officeDocument/2006/relationships/slide" Target="/ppt/slides/slide1.xml" Id="R292acaca577b415a" /><Relationship Type="http://schemas.openxmlformats.org/officeDocument/2006/relationships/slide" Target="/ppt/slides/slide2.xml" Id="R2cd8202e74c44a40" /><Relationship Type="http://schemas.openxmlformats.org/officeDocument/2006/relationships/slide" Target="/ppt/slides/slide3.xml" Id="Rd7752c04a2e04092" /><Relationship Type="http://schemas.openxmlformats.org/officeDocument/2006/relationships/slide" Target="/ppt/slides/slide4.xml" Id="R445e7d19b48741f5" /><Relationship Type="http://schemas.openxmlformats.org/officeDocument/2006/relationships/slide" Target="/ppt/slides/slide5.xml" Id="Rc055d7216bf34e20" /><Relationship Type="http://schemas.openxmlformats.org/officeDocument/2006/relationships/slide" Target="/ppt/slides/slide6.xml" Id="Rdf7c5760cfc241b3" /><Relationship Type="http://schemas.openxmlformats.org/officeDocument/2006/relationships/slide" Target="/ppt/slides/slide7.xml" Id="R70f493f117414ce9" /><Relationship Type="http://schemas.openxmlformats.org/officeDocument/2006/relationships/slide" Target="/ppt/slides/slide8.xml" Id="Re725cda21a264975" /><Relationship Type="http://schemas.openxmlformats.org/officeDocument/2006/relationships/slide" Target="/ppt/slides/slide9.xml" Id="R11177aba6c674ee9" /><Relationship Type="http://schemas.openxmlformats.org/officeDocument/2006/relationships/slide" Target="/ppt/slides/slide10.xml" Id="R8fba160d62234a9e" /><Relationship Type="http://schemas.openxmlformats.org/officeDocument/2006/relationships/slide" Target="/ppt/slides/slide11.xml" Id="R28c7a8bf49d443d8" /><Relationship Type="http://schemas.openxmlformats.org/officeDocument/2006/relationships/slide" Target="/ppt/slides/slide12.xml" Id="R061e146779644b67" /><Relationship Type="http://schemas.openxmlformats.org/officeDocument/2006/relationships/slide" Target="/ppt/slides/slide13.xml" Id="Rd592df91956d4977" /><Relationship Type="http://schemas.openxmlformats.org/officeDocument/2006/relationships/slide" Target="/ppt/slides/slide14.xml" Id="R4081722f97e8443d" /><Relationship Type="http://schemas.openxmlformats.org/officeDocument/2006/relationships/slide" Target="/ppt/slides/slide15.xml" Id="Rbe2fd01ff7c74934" /><Relationship Type="http://schemas.openxmlformats.org/officeDocument/2006/relationships/slide" Target="/ppt/slides/slide16.xml" Id="R7310533d9e4843e1" /><Relationship Type="http://schemas.openxmlformats.org/officeDocument/2006/relationships/slide" Target="/ppt/slides/slide17.xml" Id="Rfebeed12fd18414a" /><Relationship Type="http://schemas.openxmlformats.org/officeDocument/2006/relationships/slide" Target="/ppt/slides/slide18.xml" Id="Rd33143c398cf4563" /><Relationship Type="http://schemas.openxmlformats.org/officeDocument/2006/relationships/slide" Target="/ppt/slides/slide19.xml" Id="Rd2296bd139404832" /><Relationship Type="http://schemas.openxmlformats.org/officeDocument/2006/relationships/slide" Target="/ppt/slides/slide20.xml" Id="Rfe566742c56b477c" /><Relationship Type="http://schemas.openxmlformats.org/officeDocument/2006/relationships/slide" Target="/ppt/slides/slide21.xml" Id="Rd8931bf23fc442ad" /><Relationship Type="http://schemas.openxmlformats.org/officeDocument/2006/relationships/slide" Target="/ppt/slides/slide22.xml" Id="Rd95af5c4cdf84726" /><Relationship Type="http://schemas.openxmlformats.org/officeDocument/2006/relationships/slide" Target="/ppt/slides/slide23.xml" Id="R4365795f7c7144d5" /><Relationship Type="http://schemas.openxmlformats.org/officeDocument/2006/relationships/slide" Target="/ppt/slides/slide24.xml" Id="R63d1efe1d1984a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7839ad7cff44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eb7b5ada804e79" /><Relationship Type="http://schemas.openxmlformats.org/officeDocument/2006/relationships/notesMaster" Target="/ppt/notesMasters/notesMaster1.xml" Id="Ref39dfe7c63a43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5f5ff2bfd94f99" /><Relationship Type="http://schemas.openxmlformats.org/officeDocument/2006/relationships/notesMaster" Target="/ppt/notesMasters/notesMaster1.xml" Id="R3e7a1a857b324e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9a5bd504b74d55" /><Relationship Type="http://schemas.openxmlformats.org/officeDocument/2006/relationships/notesMaster" Target="/ppt/notesMasters/notesMaster1.xml" Id="R10235811fc034f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47d73f256140c5" /><Relationship Type="http://schemas.openxmlformats.org/officeDocument/2006/relationships/notesMaster" Target="/ppt/notesMasters/notesMaster1.xml" Id="R45e042abe0074c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eb79513548420d" /><Relationship Type="http://schemas.openxmlformats.org/officeDocument/2006/relationships/notesMaster" Target="/ppt/notesMasters/notesMaster1.xml" Id="Re4314b6b714343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085beaed4147e0" /><Relationship Type="http://schemas.openxmlformats.org/officeDocument/2006/relationships/notesMaster" Target="/ppt/notesMasters/notesMaster1.xml" Id="R0d8dd2c51b4943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b862695641469c" /><Relationship Type="http://schemas.openxmlformats.org/officeDocument/2006/relationships/notesMaster" Target="/ppt/notesMasters/notesMaster1.xml" Id="Rdc86f4dcd2814d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81d8971f4f4370" /><Relationship Type="http://schemas.openxmlformats.org/officeDocument/2006/relationships/notesMaster" Target="/ppt/notesMasters/notesMaster1.xml" Id="R4b5431967fe04e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8025e405ab42ab" /><Relationship Type="http://schemas.openxmlformats.org/officeDocument/2006/relationships/notesMaster" Target="/ppt/notesMasters/notesMaster1.xml" Id="Rbfe39f9e33c242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3d3ced544f4ff0" /><Relationship Type="http://schemas.openxmlformats.org/officeDocument/2006/relationships/notesMaster" Target="/ppt/notesMasters/notesMaster1.xml" Id="Ra3f0a5b923dc4a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8b66db1dff4d7e" /><Relationship Type="http://schemas.openxmlformats.org/officeDocument/2006/relationships/notesMaster" Target="/ppt/notesMasters/notesMaster1.xml" Id="R2e742160f4af46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132a7703584af3" /><Relationship Type="http://schemas.openxmlformats.org/officeDocument/2006/relationships/notesMaster" Target="/ppt/notesMasters/notesMaster1.xml" Id="R411a19abfe7641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cec054e90e4dbd" /><Relationship Type="http://schemas.openxmlformats.org/officeDocument/2006/relationships/notesMaster" Target="/ppt/notesMasters/notesMaster1.xml" Id="Rd90311c6c3b741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3d4052abab40e6" /><Relationship Type="http://schemas.openxmlformats.org/officeDocument/2006/relationships/notesMaster" Target="/ppt/notesMasters/notesMaster1.xml" Id="Rc8db6c907c1147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ae510d2d6a469c" /><Relationship Type="http://schemas.openxmlformats.org/officeDocument/2006/relationships/notesMaster" Target="/ppt/notesMasters/notesMaster1.xml" Id="Rca3e1debec3d429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72dd71ae86f4164" /><Relationship Type="http://schemas.openxmlformats.org/officeDocument/2006/relationships/notesMaster" Target="/ppt/notesMasters/notesMaster1.xml" Id="Rb694f7427ac6407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3a8fb51e2e54563" /><Relationship Type="http://schemas.openxmlformats.org/officeDocument/2006/relationships/notesMaster" Target="/ppt/notesMasters/notesMaster1.xml" Id="R302ea4c59f4d4c7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3e6b5f1c7742c5" /><Relationship Type="http://schemas.openxmlformats.org/officeDocument/2006/relationships/notesMaster" Target="/ppt/notesMasters/notesMaster1.xml" Id="R155d8118e7a840c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95835a790c94676" /><Relationship Type="http://schemas.openxmlformats.org/officeDocument/2006/relationships/notesMaster" Target="/ppt/notesMasters/notesMaster1.xml" Id="R48f553c098d3434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a2924da0ce41fc" /><Relationship Type="http://schemas.openxmlformats.org/officeDocument/2006/relationships/notesMaster" Target="/ppt/notesMasters/notesMaster1.xml" Id="Ra2af9d6a430c498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0a28b458c44069" /><Relationship Type="http://schemas.openxmlformats.org/officeDocument/2006/relationships/notesMaster" Target="/ppt/notesMasters/notesMaster1.xml" Id="R133c251ac27b4c3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cacd54e76fc41ca" /><Relationship Type="http://schemas.openxmlformats.org/officeDocument/2006/relationships/notesMaster" Target="/ppt/notesMasters/notesMaster1.xml" Id="R9e6d683829924c3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811d0c3d1954692" /><Relationship Type="http://schemas.openxmlformats.org/officeDocument/2006/relationships/notesMaster" Target="/ppt/notesMasters/notesMaster1.xml" Id="R63a91be53c77438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caca7ac09504efd" /><Relationship Type="http://schemas.openxmlformats.org/officeDocument/2006/relationships/notesMaster" Target="/ppt/notesMasters/notesMaster1.xml" Id="Ra498cc1f828547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本页补充开发人力、Token 单次交互、批量处理、月度 Token 与硬件成本明细。金额为路演预估，投产后以实际调用量和资源账单复核。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本页补充效率、人力节省、质量收益、月度 ROI 与年度收益。金额与效率指标为路演预估，投产后以实际业务数据复核。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fc8dba2a14d1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fab5cbc4844f3f" /><Relationship Type="http://schemas.openxmlformats.org/officeDocument/2006/relationships/slideLayout" Target="/ppt/slideLayouts/slideLayout1.xml" Id="Raf943387f8404d6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943387f8404d6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624343a06488e" /><Relationship Type="http://schemas.openxmlformats.org/officeDocument/2006/relationships/notesSlide" Target="/ppt/notesSlides/notesSlide1.xml" Id="Re20ada43c7ec47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93363636d4f2e" /><Relationship Type="http://schemas.openxmlformats.org/officeDocument/2006/relationships/notesSlide" Target="/ppt/notesSlides/notesSlide2.xml" Id="Rb1a00f6afa8b4c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ee81efb884f22" /><Relationship Type="http://schemas.openxmlformats.org/officeDocument/2006/relationships/notesSlide" Target="/ppt/notesSlides/notesSlide3.xml" Id="R5d6b874310e14b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c166a23d34195" /><Relationship Type="http://schemas.openxmlformats.org/officeDocument/2006/relationships/notesSlide" Target="/ppt/notesSlides/notesSlide4.xml" Id="Rcb9cb663376c43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d3c4d09384b56" /><Relationship Type="http://schemas.openxmlformats.org/officeDocument/2006/relationships/notesSlide" Target="/ppt/notesSlides/notesSlide5.xml" Id="Rf564b9f0d7a54f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27b08be374dbc" /><Relationship Type="http://schemas.openxmlformats.org/officeDocument/2006/relationships/notesSlide" Target="/ppt/notesSlides/notesSlide6.xml" Id="R8b7de14db3884c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57941158d4c2a" /><Relationship Type="http://schemas.openxmlformats.org/officeDocument/2006/relationships/notesSlide" Target="/ppt/notesSlides/notesSlide7.xml" Id="R81917fc773a147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1d402b94a487b" /><Relationship Type="http://schemas.openxmlformats.org/officeDocument/2006/relationships/notesSlide" Target="/ppt/notesSlides/notesSlide8.xml" Id="R15e5aede782d47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18045a97b44a3" /><Relationship Type="http://schemas.openxmlformats.org/officeDocument/2006/relationships/image" Target="/ppt/media/image.png" Id="Rb1c0d4e55da248c9" /><Relationship Type="http://schemas.openxmlformats.org/officeDocument/2006/relationships/notesSlide" Target="/ppt/notesSlides/notesSlide9.xml" Id="Rda681db45c134a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b002852bf4ba1" /><Relationship Type="http://schemas.openxmlformats.org/officeDocument/2006/relationships/image" Target="/ppt/media/image2.png" Id="R8e5bcc8ff2f14660" /><Relationship Type="http://schemas.openxmlformats.org/officeDocument/2006/relationships/notesSlide" Target="/ppt/notesSlides/notesSlide10.xml" Id="Rb10efecc102042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02be2194f440c" /><Relationship Type="http://schemas.openxmlformats.org/officeDocument/2006/relationships/image" Target="/ppt/media/image3.png" Id="R17b2da418a884509" /><Relationship Type="http://schemas.openxmlformats.org/officeDocument/2006/relationships/image" Target="/ppt/media/image4.png" Id="R9c18e5566b954603" /><Relationship Type="http://schemas.openxmlformats.org/officeDocument/2006/relationships/image" Target="/ppt/media/image5.png" Id="Ra200e8370bfb487e" /><Relationship Type="http://schemas.openxmlformats.org/officeDocument/2006/relationships/image" Target="/ppt/media/image6.png" Id="Ra223a71da4fe4497" /><Relationship Type="http://schemas.openxmlformats.org/officeDocument/2006/relationships/notesSlide" Target="/ppt/notesSlides/notesSlide11.xml" Id="R0a04b8494e5040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182e75c1d4072" /><Relationship Type="http://schemas.openxmlformats.org/officeDocument/2006/relationships/notesSlide" Target="/ppt/notesSlides/notesSlide12.xml" Id="Re062e343d4a148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c07047f144902" /><Relationship Type="http://schemas.openxmlformats.org/officeDocument/2006/relationships/notesSlide" Target="/ppt/notesSlides/notesSlide13.xml" Id="R3979358f0b2748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397287a3a4211" /><Relationship Type="http://schemas.openxmlformats.org/officeDocument/2006/relationships/notesSlide" Target="/ppt/notesSlides/notesSlide14.xml" Id="Rf498d4e4495444e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87aa2ccfc4610" /><Relationship Type="http://schemas.openxmlformats.org/officeDocument/2006/relationships/notesSlide" Target="/ppt/notesSlides/notesSlide15.xml" Id="Rb19e32cc382b4a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dd1c24aad4f56" /><Relationship Type="http://schemas.openxmlformats.org/officeDocument/2006/relationships/notesSlide" Target="/ppt/notesSlides/notesSlide16.xml" Id="Rfe779103d13a42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f99e644c94f0c" /><Relationship Type="http://schemas.openxmlformats.org/officeDocument/2006/relationships/notesSlide" Target="/ppt/notesSlides/notesSlide17.xml" Id="R39d7b6e0f4a7429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3c654d61e48ce" /><Relationship Type="http://schemas.openxmlformats.org/officeDocument/2006/relationships/notesSlide" Target="/ppt/notesSlides/notesSlide18.xml" Id="Rfb7347ef475c452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aebf2158e46f9" /><Relationship Type="http://schemas.openxmlformats.org/officeDocument/2006/relationships/notesSlide" Target="/ppt/notesSlides/notesSlide19.xml" Id="R050787490a37478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361eac40c46fe" /><Relationship Type="http://schemas.openxmlformats.org/officeDocument/2006/relationships/notesSlide" Target="/ppt/notesSlides/notesSlide20.xml" Id="R3e5777d9fe5346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1e9b650994701" /><Relationship Type="http://schemas.openxmlformats.org/officeDocument/2006/relationships/chart" Target="/ppt/slides/charts/chart1.xml" Id="Rc8d8c3554b3c4c74" /><Relationship Type="http://schemas.openxmlformats.org/officeDocument/2006/relationships/notesSlide" Target="/ppt/notesSlides/notesSlide21.xml" Id="R5643d744cfa54b7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d6033eba940f8" /><Relationship Type="http://schemas.openxmlformats.org/officeDocument/2006/relationships/chart" Target="/ppt/slides/charts/chart2.xml" Id="R0f6341e0559f4ce2" /><Relationship Type="http://schemas.openxmlformats.org/officeDocument/2006/relationships/notesSlide" Target="/ppt/notesSlides/notesSlide22.xml" Id="Rf9cf0f7f2a294da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715bc050649df" /><Relationship Type="http://schemas.openxmlformats.org/officeDocument/2006/relationships/chart" Target="/ppt/slides/charts/chart3.xml" Id="Red25b8f3f9894f6a" /><Relationship Type="http://schemas.openxmlformats.org/officeDocument/2006/relationships/notesSlide" Target="/ppt/notesSlides/notesSlide23.xml" Id="Rd82563002cce4f9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a204e241e4c24" /><Relationship Type="http://schemas.openxmlformats.org/officeDocument/2006/relationships/notesSlide" Target="/ppt/notesSlides/notesSlide24.xml" Id="R53a6881628d945a9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 xmlns:a="http://schemas.openxmlformats.org/drawingml/2006/main">
              <a:srgbClr val="1C6DD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C6DD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E9E5B"/>
              </a:solidFill>
            </c:spPr>
          </c:dPt>
          <c:dLbls>
            <c:numFmt formatCode="#,##0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0" i="0" u="none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rot="-60000000" spcFirstLastPara="0" vert="horz" wrap="square" anchor="ctr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lblOffset val="10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 xmlns:a="http://schemas.openxmlformats.org/drawingml/2006/main">
              <a:srgbClr val="1C6DD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C6DD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E9E5B"/>
              </a:solidFill>
            </c:spPr>
          </c:dPt>
          <c:dLbls>
            <c:numFmt formatCode="#,##0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0" i="0" u="none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rot="-60000000" spcFirstLastPara="0" vert="horz" wrap="square" anchor="ctr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lblOffset val="10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3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 xmlns:a="http://schemas.openxmlformats.org/drawingml/2006/main">
              <a:srgbClr val="1C6DD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C6DD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E9E5B"/>
              </a:solidFill>
            </c:spPr>
          </c:dPt>
          <c:dLbls>
            <c:numFmt formatCode="#,##0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0" i="0" u="none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rot="-60000000" spcFirstLastPara="0" vert="horz" wrap="square" anchor="ctr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lblOffset val="10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965484-2A23-44E7-8A60-FBCC8E0E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-1188720"/>
            <a:ext cx="4754880" cy="4754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8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39074AD-15ED-47B6-A030-F368D1BB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108960"/>
            <a:ext cx="3291840" cy="3291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>
              <a:alpha val="20000"/>
            </a:srgbClr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7343099-6646-453E-BAB8-E22397BD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7160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3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AI · 智能核保</a:t>
            </a:r>
            <a:endParaRPr sz="1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BF2234F-6B10-48EA-A518-7FBE78EE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28800"/>
            <a:ext cx="107899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5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D37091-590A-44CD-9458-EC2980CD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00400"/>
            <a:ext cx="10789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AI + 规则引擎双引擎  ·  自动分级核保  ·  分级审批  ·  可解释可追溯</a:t>
            </a:r>
            <a:endParaRPr sz="18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8EA7047-056C-4E39-86A1-9714A819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0"/>
            <a:ext cx="1335024" cy="310896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D5AB7A-6615-41AB-8E36-E1EBB94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480560"/>
            <a:ext cx="148132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标准体</a:t>
            </a:r>
            <a:endParaRPr sz="10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9BB1FEE-ECE2-47B9-B3E4-984ACCCB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4114800"/>
            <a:ext cx="1335024" cy="310896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5DBE7E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13FF49F-671D-4791-B64C-EAD693E1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376" y="4480560"/>
            <a:ext cx="148132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次标体A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8A80E5D-9B23-4BC8-8A54-9222F371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704" y="4114800"/>
            <a:ext cx="1335024" cy="310896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11B6E03-35EE-4BB7-BF7A-CB5F3039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264" y="4480560"/>
            <a:ext cx="148132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次标体B</a:t>
            </a:r>
            <a:endParaRPr sz="10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A8CDDD1-3F03-4F11-904A-B261A200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4114800"/>
            <a:ext cx="1335024" cy="310896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07B4A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DB13F99-4222-40E8-8C58-9FC1A030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4480560"/>
            <a:ext cx="148132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高风险体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01B6E71-F4DF-4C6E-BEFA-82326E3E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114800"/>
            <a:ext cx="1335024" cy="310896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94C4C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A98EEE2-7662-4027-9468-CC0325E2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480560"/>
            <a:ext cx="148132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拒保体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871C17C-8FE2-4544-A6D9-534B8025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9436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汇报人：___________　|　所属团队：___________　|　2026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661046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3490CEC-C5DD-4417-A7C2-E7059DDA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EC8DBAD-7FAF-42AC-8DDC-EB11F954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A522455-5215-4CDB-9B3A-1ED13B9D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CONTENTS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F4F95D1-A342-4147-B2FB-8EE968A6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047AC6-B876-47C7-8E82-6E688DE8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74520"/>
            <a:ext cx="11055096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6BECF18-CA79-4C77-A679-107A033E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48256"/>
            <a:ext cx="621792" cy="621792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9465E58-3426-48B2-B998-EF582C08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48256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8628101-0A49-4C40-9CC0-91E21586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039112"/>
            <a:ext cx="7772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业务痛点及挑战</a:t>
            </a:r>
            <a:endParaRPr sz="1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7C89C9E-AC75-4755-BBA4-F701F90C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423160"/>
            <a:ext cx="9601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人工核保的效率、标准、风险与合规困局</a:t>
            </a:r>
            <a:endParaRPr sz="12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5F8BA3E-AB25-4113-9ABD-119494EC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990088"/>
            <a:ext cx="11055096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59B787D-9155-4CE7-89C1-E35680D3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63824"/>
            <a:ext cx="621792" cy="621792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B2A942F-2C3F-4DC2-83DD-D32AF74F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63824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72767D3-FE08-48C9-8599-9E7641DC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154680"/>
            <a:ext cx="7772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智能核保 · 系统解决方案</a:t>
            </a:r>
            <a:endParaRPr sz="19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2B6B063-F472-4CA6-A276-09405303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538728"/>
            <a:ext cx="9601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三级角色化功能 · 双引擎架构 · 落地流程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3D4D991-2B1E-44C9-9710-CE78446A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05656"/>
            <a:ext cx="11055096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5CB514F-5714-4623-81EF-C98BEDD3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279392"/>
            <a:ext cx="621792" cy="621792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8C9F3A-A85C-4E96-B4D1-C43CCA50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279392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243C65E-F97C-47F4-B9D8-B15E5969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4270248"/>
            <a:ext cx="7772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核心创新亮点</a:t>
            </a:r>
            <a:endParaRPr sz="19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3C16B64-10E4-4412-9344-506A62FA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4654296"/>
            <a:ext cx="9601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双引擎 / 分级审批 / AI语义因子 / 可解释 / 反馈闭环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69001956-8D65-4B06-9EBF-DA337FEC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21224"/>
            <a:ext cx="11055096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EB9E35C-15AC-4977-B9E7-7CFA413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394960"/>
            <a:ext cx="621792" cy="621792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BDB1D7A-B83C-4000-973E-E11DDF31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394960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4F94CDC-3434-4C67-A63A-6D7D6509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5385816"/>
            <a:ext cx="7772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业务价值与投产比分析</a:t>
            </a:r>
            <a:endParaRPr sz="19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6CE251D-E5DA-41E4-82C5-947B1302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5769864"/>
            <a:ext cx="9601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效能对比 · 成本投入 · ROI 与回收期</a:t>
            </a:r>
            <a:endParaRPr sz="12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32C134B-7D36-44F0-AAFA-574EBB81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2BB1099-E91D-4586-AAC0-A4E38A9A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764467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BBC37D4-30A6-435A-B717-4FE5FC52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-91440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6000"/>
            </a:srgbClr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935329-161B-44DB-B48B-042866D3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59436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0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E9597DF-A4EE-4DFD-A875-A7C8B3CF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788920"/>
            <a:ext cx="256032" cy="109728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FB31842-BFBE-493E-A84B-9CC54A36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788920"/>
            <a:ext cx="6035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业务痛点及挑战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D496DBF-0402-484E-AA5C-B7E5D584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11880"/>
            <a:ext cx="603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PAIN POINTS &amp; CHALLENGES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862645F-F6D1-4BB8-A801-D4793F64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940D966-0B9C-49D5-8A11-F3D5253E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96676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DF22D1-A3AA-44B2-A39F-02861D81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40976DF-224B-4CAD-8313-975981C0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F0DC38D-8FEB-483B-8B1B-7EB802BD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01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2D4D21-5EFB-42EC-A6F9-561EC9BC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人工核保的五大核心痛点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A8AE455-42CA-49C3-A0E9-5134A42C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传统人工核保依赖个人经验，在效率、标准、风险、成本与合规留痕上均存在系统性瓶颈。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D2930E0-CEA8-459F-ABA3-4B3DD9A3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48840"/>
            <a:ext cx="2064715" cy="3840480"/>
          </a:xfrm>
          <a:prstGeom xmlns:a="http://schemas.openxmlformats.org/drawingml/2006/main" prst="roundRect">
            <a:avLst>
              <a:gd name="adj" fmla="val 35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50D9E3-904E-4CD7-88F9-098CD5A7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48840"/>
            <a:ext cx="2064715" cy="128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66382D0-F3C4-443D-9488-CB9EC682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950" y="2532888"/>
            <a:ext cx="804672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86FDBEF-F4EF-4626-818F-8BF7FF8C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950" y="253288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D953355-D51A-4DC5-A0BD-1D537180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20440"/>
            <a:ext cx="18818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核对效率低下</a:t>
            </a:r>
            <a:endParaRPr sz="15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25F0E58-4B9E-481F-B838-662C0794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069080"/>
            <a:ext cx="1735531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逐项核对病史/体检/规则，耗时耗力</a:t>
            </a:r>
            <a:endParaRPr sz="1150"/>
          </a:p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单件人工核保 0.5–1 小时【待核实】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DD56239-4B8B-4B7D-A95F-69234C56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4523" y="2148840"/>
            <a:ext cx="2064715" cy="3840480"/>
          </a:xfrm>
          <a:prstGeom xmlns:a="http://schemas.openxmlformats.org/drawingml/2006/main" prst="roundRect">
            <a:avLst>
              <a:gd name="adj" fmla="val 35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A337189-A3CD-4107-A04F-12DD56C8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4523" y="2148840"/>
            <a:ext cx="2064715" cy="128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1252B3E-7A81-49CE-8763-B9958D2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545" y="2532888"/>
            <a:ext cx="804672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3571B3F-4558-4D2E-ADA9-0FA5CC08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545" y="253288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860A83C-42EB-489A-86D7-3D262D1C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963" y="3520440"/>
            <a:ext cx="18818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核保标准不一</a:t>
            </a:r>
            <a:endParaRPr sz="15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C608605-C06D-4DE9-A5AC-B15E5319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4069080"/>
            <a:ext cx="1735531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不同核保员对规则理解有偏差</a:t>
            </a:r>
            <a:endParaRPr sz="1150"/>
          </a:p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同类客户结论/加费不一致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DBA8729-5D5A-41BF-82C9-CD03DDC9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118" y="2148840"/>
            <a:ext cx="2064715" cy="3840480"/>
          </a:xfrm>
          <a:prstGeom xmlns:a="http://schemas.openxmlformats.org/drawingml/2006/main" prst="roundRect">
            <a:avLst>
              <a:gd name="adj" fmla="val 35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A0A9ABE-1022-4ABE-90AD-713442CA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118" y="2148840"/>
            <a:ext cx="2064715" cy="128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B82F02B-65EB-47EA-BA3A-A351F761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2140" y="2532888"/>
            <a:ext cx="804672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463C5E4-3ADD-494C-86A8-16E2EE05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2140" y="253288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2EBC9D-8AF4-4633-9962-CB1207BB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558" y="3520440"/>
            <a:ext cx="18818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风险漏判误判</a:t>
            </a:r>
            <a:endParaRPr sz="15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3B8C4CB-F0EF-404D-A1F1-0572BDA4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4998" y="4069080"/>
            <a:ext cx="1735531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疲劳与主观因素致漏判、错判</a:t>
            </a:r>
            <a:endParaRPr sz="1150"/>
          </a:p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直接影响赔付率与承保质量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FF152F8-80EA-4520-862C-A48D6DCE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714" y="2148840"/>
            <a:ext cx="2064715" cy="3840480"/>
          </a:xfrm>
          <a:prstGeom xmlns:a="http://schemas.openxmlformats.org/drawingml/2006/main" prst="roundRect">
            <a:avLst>
              <a:gd name="adj" fmla="val 35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9D44DF5-E5E7-4251-9075-2A57EDB9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714" y="2148840"/>
            <a:ext cx="2064715" cy="128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07B4A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A23275-DEE5-4534-BB41-140C65E9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735" y="2532888"/>
            <a:ext cx="804672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7B4A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DB2E06E-5D29-41D8-B026-6B671B08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735" y="253288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8D5E372-562D-42DD-B535-DECB4CA4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154" y="3520440"/>
            <a:ext cx="18818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人力成本高企</a:t>
            </a:r>
            <a:endParaRPr sz="15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830AAE0-98DC-47D0-9181-4C08EF21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2594" y="4069080"/>
            <a:ext cx="1735531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核保为劳动密集型，人力占比高</a:t>
            </a:r>
            <a:endParaRPr sz="1150"/>
          </a:p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业务高峰期产能受限</a:t>
            </a:r>
            <a:endParaRPr sz="11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8C5EF56-AAC4-44F3-8B3A-4030E6EA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309" y="2148840"/>
            <a:ext cx="2064715" cy="3840480"/>
          </a:xfrm>
          <a:prstGeom xmlns:a="http://schemas.openxmlformats.org/drawingml/2006/main" prst="roundRect">
            <a:avLst>
              <a:gd name="adj" fmla="val 35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B8970A43-3AFE-4CE0-A83F-84B13A0D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309" y="2148840"/>
            <a:ext cx="2064715" cy="128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94C4C"/>
          </a:solidFill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6A19A9C-B4E1-443E-B567-18E149FF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7330" y="2532888"/>
            <a:ext cx="804672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C4C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5078671-3571-446C-8A13-853234BF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7330" y="253288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26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F8FED5B-CD09-4215-8D68-6CFB3C40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749" y="3520440"/>
            <a:ext cx="18818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合规留痕困难</a:t>
            </a:r>
            <a:endParaRPr sz="15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653E013A-2C8D-4815-813D-E4F98EF1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0189" y="4069080"/>
            <a:ext cx="1735531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决策依据难以完整追溯</a:t>
            </a:r>
            <a:endParaRPr sz="1150"/>
          </a:p>
          <a:p xmlns:a="http://schemas.openxmlformats.org/drawingml/2006/main"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难满足审计与监管可解释要求</a:t>
            </a:r>
            <a:endParaRPr sz="11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F0F2125-9650-4C1D-A952-E703236A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3556DEE-683D-4369-A374-184228D5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146580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A04889-5F90-494E-A395-3EFA7F6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-91440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6000"/>
            </a:srgbClr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375E48-6DE4-44A9-954F-05BB2BAA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59436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0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F51AE4-83B9-4C1D-A27F-B23B856F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788920"/>
            <a:ext cx="256032" cy="109728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0E1F822-3F36-4963-ADB5-50DF2A7A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788920"/>
            <a:ext cx="6035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智能核保 · 系统解决方案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380FAC3-022B-4C90-8196-5BC9B758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11880"/>
            <a:ext cx="603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THE SOLUTION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C9CDF50-1F92-423B-8226-7293D0F8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222511-7B98-4B7A-860C-1D077FF3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42744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1CF87D-53D6-4133-9681-1768B3D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30C5689-D223-481F-B471-518C657B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565CEDD-15D5-4FDB-B2D2-5EEDDC03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CE89A4-B70A-4355-A28B-469A44B8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三级角色化功能体系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73B5287-6257-4A8B-8EA2-E4B36B68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基于「执行—管理—决策」三级职责，系统为不同角色提供定制化功能，形成从单笔核保到分级审批的闭环。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8C45880-60FD-4A20-97D5-37C3745A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3502152" cy="3886200"/>
          </a:xfrm>
          <a:prstGeom xmlns:a="http://schemas.openxmlformats.org/drawingml/2006/main" prst="roundRect">
            <a:avLst>
              <a:gd name="adj" fmla="val 2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9A71241-6F41-493F-9DE9-4CACE68A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3502152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FECC8F7-1C5F-4A98-8EBD-29666D28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97480"/>
            <a:ext cx="3502152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FE5A565-7E6B-47A0-BC68-0A39A569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22000"/>
            </a:srgbClr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AE8BE76-A4CA-4F5D-9D7C-D5A2B14F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C947378-C1DD-4E2A-BD1D-12CD6585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168" y="2340864"/>
            <a:ext cx="258775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核保专员</a:t>
            </a:r>
            <a:endParaRPr sz="17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AB6F471-2496-4020-865C-7020E076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168" y="2670048"/>
            <a:ext cx="258775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执行层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0871DB5-2170-4D26-A915-EA8B1ED8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82112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核心任务：单笔 / 批量核保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F3C9A4B-0E46-46E2-AA8F-85727151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302666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提交投保申请并触发 AI 自动核保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查看风险评分 / 等级 / 结论 / 加费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发起人工修整（必填原因）</a:t>
            </a:r>
            <a:endParaRPr sz="11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079BF9D-72AE-48B4-A648-97A9566B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422392"/>
            <a:ext cx="306324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8E7DCA5-C90E-492A-9D0F-65254DE0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5422392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提效：AI 秒级出结论，减少人工核对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4F20CC2-FA7E-4915-8FA1-55CF5E3A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4560"/>
            <a:ext cx="3502152" cy="3886200"/>
          </a:xfrm>
          <a:prstGeom xmlns:a="http://schemas.openxmlformats.org/drawingml/2006/main" prst="roundRect">
            <a:avLst>
              <a:gd name="adj" fmla="val 2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3610073-299D-4A25-9971-D7A7EECB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4560"/>
            <a:ext cx="3502152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653634B-9FE3-42A6-A717-7FA5443F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97480"/>
            <a:ext cx="3502152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989C1D6A-C0F8-4C7A-9E6E-410CB12A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22000"/>
            </a:srgbClr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EE7B577-F95B-4E9B-A3DE-3BF952D3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A6C71C8-3400-4C7C-A9DD-44E3C722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40864"/>
            <a:ext cx="258775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核保主管</a:t>
            </a:r>
            <a:endParaRPr sz="17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1234EE4-4D5E-4447-8F7D-E31DB8D7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670048"/>
            <a:ext cx="258775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管理层 · 分级审批</a:t>
            </a:r>
            <a:endParaRPr sz="11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B978BD5-B34E-4909-9097-8EA064A1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182112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E86DE"/>
                </a:solidFill>
                <a:latin typeface="微软雅黑"/>
                <a:ea typeface="微软雅黑"/>
                <a:cs typeface="微软雅黑"/>
              </a:rPr>
              <a:t>核心任务：审批与运营监控</a:t>
            </a:r>
            <a:endParaRPr sz="12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6D3E25E-CC57-4566-A3DE-CA43E617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566160"/>
            <a:ext cx="302666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审批人工修整（按严重程度分一/二级）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数据汇总统计 · 运营监控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免审提交即生效（保守流转保留）</a:t>
            </a:r>
            <a:endParaRPr sz="11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59CC6E4-14D1-4616-9D4B-964191BD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5422392"/>
            <a:ext cx="306324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4D2078B-8EE3-4F97-BE24-AFDA6640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5422392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控本：识别低效环节，统一核保口径</a:t>
            </a:r>
            <a:endParaRPr sz="11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A1A812A-BB96-4B8B-A0CF-BDC96A9E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194560"/>
            <a:ext cx="3502152" cy="3886200"/>
          </a:xfrm>
          <a:prstGeom xmlns:a="http://schemas.openxmlformats.org/drawingml/2006/main" prst="roundRect">
            <a:avLst>
              <a:gd name="adj" fmla="val 2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6CB25AA-4353-4F9A-98B0-0D93B543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194560"/>
            <a:ext cx="3502152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E318BF6-62DC-41ED-AD27-CDF87A47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697480"/>
            <a:ext cx="3502152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CA55B9D8-9D6D-4697-9F67-F98575FA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39572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22000"/>
            </a:srgbClr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78FACBB-4169-4ED2-9F95-348A8EFB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395728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0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8ED1543-6457-4A27-A1C3-DB2DDCF2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112" y="2340864"/>
            <a:ext cx="258775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管理员</a:t>
            </a:r>
            <a:endParaRPr sz="17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6B8560C-C59E-4C94-B9DB-DC5B9A46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112" y="2670048"/>
            <a:ext cx="258775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决策层 · 系统管理</a:t>
            </a:r>
            <a:endParaRPr sz="11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FF60FC8-F57B-45DC-9B9D-2FC0D82E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182112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核心任务：反馈闭环与合规</a:t>
            </a:r>
            <a:endParaRPr sz="12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8D9E083-A599-4496-ACE1-B3EAC3D4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566160"/>
            <a:ext cx="302666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用户反馈受理与规则建议确认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全量审计留痕查看</a:t>
            </a:r>
            <a:endParaRPr sz="1150"/>
          </a:p>
          <a:p xmlns:a="http://schemas.openxmlformats.org/drawingml/2006/main"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规则知识库 / 系统管理</a:t>
            </a:r>
            <a:endParaRPr sz="11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64F1253D-819E-4A18-AA9F-DFED5F11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5422392"/>
            <a:ext cx="306324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D1F15D6-2B20-4120-9C3E-F6F42508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5422392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合规：账实相符，满足审计要求</a:t>
            </a:r>
            <a:endParaRPr sz="11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7D819DA4-C8DC-4384-A891-9EC893E2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90C2DE78-562D-4F9A-ACC1-C8F5D42C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924635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574C113-CB4F-408F-9525-DF2810C2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B17FDA3-9F11-4BC6-B418-5F574681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8DD9BB0-2FEA-406D-AEE7-0B22A3E2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ABBCCB1-88AF-4885-8BFA-4FDF4B50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产品能力全景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7063624-DA90-4CB5-A79F-E2DA6A4D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八大功能模块覆盖核保全链路，从数据接入、智能核保到监控、反馈闭环。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C522AEA-C29B-4A24-9E8A-19F91FB8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A3C1390-AE8E-4609-91A8-71D9CC8B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6888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4C7A0F6-28D0-4452-97C1-C8D9B7E7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688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7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9DDA559-8716-4603-8677-FD2776AA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487168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首页概览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ED883CD-EF15-497B-A44D-2BFE6906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82112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关键指标与待办一览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CD4693F-7912-4BD8-9212-B7441C5C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2194560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87A8EA-565B-439B-88C6-FC9D4A32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246888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B3A0F89-FB7B-4CD7-B02B-47F068B1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24688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7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23038EB-3440-4192-A731-D168D352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966" y="2487168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智能助手</a:t>
            </a:r>
            <a:endParaRPr sz="15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1B09DE5-229C-4963-8470-C68B7587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598" y="3182112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LLM 多意图对话 · 对话即提报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F31B86-7579-4527-804E-D6FDBB57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204" y="2194560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FA2C550-1AFC-4CB1-A6CA-055C6145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948" y="246888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FBE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3036AE7-5BCD-4B82-8D5D-28E37B63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948" y="24688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E4A8854-33A3-452D-8EE0-BE9F5BC0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604" y="2487168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历史客户画像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3EC79FE-E986-4400-9AFA-3A319E86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236" y="3182112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既往风险与拒保历史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FA27D97-46CE-4FD6-8AE7-D377F3DA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2842" y="2194560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405E28F-E7AE-445C-B65E-FAF90E84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586" y="246888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C664A0-2AA2-40BF-A1A0-C148DED3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586" y="24688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7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E533F9B-47ED-47B5-958E-E67C673B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242" y="2487168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投保申请记录</a:t>
            </a:r>
            <a:endParaRPr sz="15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FC40A0D-4CC6-4320-941F-ECA129A5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3182112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投保数据接入与管理</a:t>
            </a:r>
            <a:endParaRPr sz="11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5FE50F8-6A4B-452B-BD94-717997BB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51376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51416D1-6A0A-4AD9-BE3D-F38BB099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2569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03478B5-A557-4632-875F-659B12B2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25696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7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3E80FE4-C4F9-41FA-8561-B301E3F3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443984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核保决策结果</a:t>
            </a:r>
            <a:endParaRPr sz="15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73ABEBF-E8A7-4701-9A6E-3FA93C64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38928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AI 自动核保 · 分级 · 修整</a:t>
            </a:r>
            <a:endParaRPr sz="11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2E0CF68-2490-4641-86C1-8FD571AC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4151376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43ADDBE-E904-4288-84A2-D0B76A5F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442569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7B4A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147840-7FE5-4EA2-9E6F-6A066B34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4425696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7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F4EFBBD-BB01-42C2-8648-9DCFF770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966" y="4443984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风险计分规则</a:t>
            </a:r>
            <a:endParaRPr sz="15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1880E37-C697-4852-874C-ACA4C463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598" y="5138928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规则知识库可视化配置</a:t>
            </a:r>
            <a:endParaRPr sz="11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FE16827-20CE-4E03-AD65-76A221E3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204" y="4151376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59CE1CB-F67A-4F17-88D7-68AB268E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948" y="442569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9B011C0-D07E-4193-A61E-58043196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948" y="4425696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  <a:endParaRPr sz="17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C9EFFA1-3CA3-44EA-BE9E-1298EBCE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604" y="4443984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数据汇总统计</a:t>
            </a:r>
            <a:endParaRPr sz="15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59B5EA2-4B22-48E4-981D-130F8114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236" y="5138928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多维分析与看板</a:t>
            </a:r>
            <a:endParaRPr sz="11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5E6D542-0732-41C4-96C0-17E8390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2842" y="4151376"/>
            <a:ext cx="2599182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0465DC7E-2DC7-486F-9F29-4650C81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586" y="442569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6FD0"/>
          </a:solidFill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7D2AD95-62D8-4CB3-A5EA-1F4B324A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586" y="4425696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  <a:endParaRPr sz="17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89E0AF8A-B952-4291-BAD4-C87BE05C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242" y="4443984"/>
            <a:ext cx="15019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用户反馈</a:t>
            </a:r>
            <a:endParaRPr sz="15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1CE12D37-B45D-4CFE-AFDC-B1859764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5138928"/>
            <a:ext cx="214198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多渠道反馈 · 规则闭环</a:t>
            </a:r>
            <a:endParaRPr sz="115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881A707-CE01-44A2-A3CD-6781D920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F0019596-F7CC-4158-BF3D-AE5505F7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07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32166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93757C-C0C2-4526-A3AF-570F2F7B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5E25F33-BBDE-43E5-A91D-0709A7A9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D8939D2-C242-43DF-A02C-89B74DB7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F426A6-2609-4F2F-854B-A814DA96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系统演示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AC4B36F-E6E5-48F9-A924-CDC793B3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45920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访问地址：http://localhost:7001/home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7DC4262-D94F-4031-938C-9FEA99BE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9F9F6B3-5C31-428E-B5BF-BBCA1152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97480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A325F69-F1D2-46EB-8979-4C39A1B1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74720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29CB5A-FE00-47E2-A326-896085C4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74720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首页概览</a:t>
            </a:r>
            <a:endParaRPr sz="11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C2E0B3E-A204-4238-BEB1-45F24F2A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304" y="2194560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3180ACA-9E65-4C85-A7B3-DCBA876D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304" y="2697480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A1EB09F-5B45-4B87-A2FA-05263E4F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3474720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1B510AE-3188-422F-8B10-6609D0F5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3474720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智能助手（对话核保）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6BDCD7D-9780-4861-8479-F841829E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2194560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DEF7F28-C60C-465C-9D97-25BE285E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2697480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EBDF255-EDC4-4A6A-AA68-7704839D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984" y="3474720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DFD7EF-880F-4D32-9BB4-8B1750F8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984" y="3474720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核保决策结果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65F80AD-F35B-450B-A9A7-04B3E68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87952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46F43AF-3B9A-4C7B-9CE6-BB99541D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690872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59C1DFE-FF09-4192-B506-9ACF3A50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68112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6076CA1-3C51-468B-8E13-38EC1E46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68112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人工修整 / 审核工作台</a:t>
            </a:r>
            <a:endParaRPr sz="11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452EC83-F488-4C60-A3DC-01B600EB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304" y="4187952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3686351-A77A-4DDD-B2B4-E435036B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304" y="4690872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58735D8-1FF6-4F64-93ED-0360B662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5468112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9E67C29-C011-4A97-82C8-2E6CB0C2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5468112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风险计分规则</a:t>
            </a:r>
            <a:endParaRPr sz="11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D5F8421-3804-4328-AC38-E0A98A4A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4187952"/>
            <a:ext cx="3514344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596D185-4019-412D-9C2B-A827D012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4690872"/>
            <a:ext cx="35143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0B9F417-B7C3-44CB-8159-E4666B95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984" y="5468112"/>
            <a:ext cx="3221736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CB7D8E2-22AB-441E-A229-9CD56E8E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984" y="5468112"/>
            <a:ext cx="32217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用户反馈 / 规则闭环</a:t>
            </a:r>
            <a:endParaRPr sz="11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0EE500E-66AD-4D34-B2A9-47257316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D322CBF-E75E-4F46-92CD-268163F6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08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51452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B6E3F5-DAF5-438C-BE81-35F09C17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2C90B5-E22D-4933-9D21-E24CCD79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4087C0-7BAE-4FC9-A327-367973FF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F63AD4-817C-46FF-AFC1-9906EADA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核心技术架构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A5B6A8-1BFB-4C2F-AD18-6EB20F41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19047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典型微服务分层架构：交互层 → 编排层（意图编排 Agent） → 服务层（核保专家 / 数据 / 报表） → 基础设施。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5A5E1A7-7387-40BD-9C62-56A29E24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819656"/>
            <a:ext cx="5809183" cy="4315968"/>
          </a:xfrm>
          <a:prstGeom xmlns:a="http://schemas.openxmlformats.org/drawingml/2006/main" prst="roundRect">
            <a:avLst>
              <a:gd name="adj" fmla="val 1271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c0d4e55da248c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874520"/>
            <a:ext cx="5699455" cy="4206240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E857616-E20D-4A7E-BD98-A2A4F89B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143" y="1874520"/>
            <a:ext cx="4989881" cy="420624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D6716E5-8CBC-49A3-B684-A4482624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2057400"/>
            <a:ext cx="4532681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架构要点</a:t>
            </a:r>
            <a:endParaRPr sz="15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0EDE0A6-CAC9-45A9-B5C8-6CCAB59A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2569464"/>
            <a:ext cx="146304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A172C63-C239-41C7-A10B-EDECDD1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19" y="2532888"/>
            <a:ext cx="427664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双引擎核保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规则引擎（确定性） + 爱码 LLM（aicoder-plus）语义</a:t>
            </a:r>
            <a:endParaRPr sz="13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2CD6AC2-D868-407A-B438-A3B4B16B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3282696"/>
            <a:ext cx="146304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61737A81-D154-4E16-BDC5-8C065778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19" y="3246120"/>
            <a:ext cx="427664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意图编排 Agent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意图识别 · 参数抽取 · 任务分发</a:t>
            </a:r>
            <a:endParaRPr sz="13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5F696984-7768-4C59-A20C-29D47924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3995928"/>
            <a:ext cx="146304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BD2914E-2913-4212-BF42-1DD027BA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19" y="3959352"/>
            <a:ext cx="427664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服务层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核保专家 / 数据服务 / 报表服务</a:t>
            </a:r>
            <a:endParaRPr sz="13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10C2518-77DD-44C7-ABF2-2A4B6769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4709160"/>
            <a:ext cx="146304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3223477-EA3B-4F73-93C5-A2C1D582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19" y="4672584"/>
            <a:ext cx="427664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前后端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Vue 3 + Element Plus / Spring Boot + MyBatis</a:t>
            </a:r>
            <a:endParaRPr sz="13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D062931-6D81-42C4-ACD4-5CCA4D48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9887" y="5422392"/>
            <a:ext cx="146304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0EECF81-18C7-44BE-969A-FB4956A0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19" y="5385816"/>
            <a:ext cx="427664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数据基座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PostgreSQL 业务库 · 规则知识库 · 文件存储 data/*.json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DD46172-1EC2-4EC7-9694-F739207B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09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364591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545B779-0A5A-4B38-B1A0-B3FF6C7F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6A83AF5-0166-43C6-B597-99983955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88D66B7-6912-4F72-97F6-BA23D5DF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3EDB725-905F-4C5D-8976-12BA5F04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智能核保逻辑：双引擎协同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8ED0FD6-FDC4-4774-B4BC-1F458A35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19047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“规则引擎（确定性） + 爱码 LLM（语义 / 生成）” 混合流水线，兼顾复杂病史的理解力与核保的严谨合规。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91D4102-A7A3-449D-BC30-4046B637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819656"/>
            <a:ext cx="4307556" cy="4315968"/>
          </a:xfrm>
          <a:prstGeom xmlns:a="http://schemas.openxmlformats.org/drawingml/2006/main" prst="roundRect">
            <a:avLst>
              <a:gd name="adj" fmla="val 1274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bcc8ff2f146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874520"/>
            <a:ext cx="4197828" cy="4206240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5664F32-EAFB-4ADA-8DB5-CBB33934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1874520"/>
            <a:ext cx="6491508" cy="1207008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F933E12-7DE7-44AD-AD27-37D818D5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1874520"/>
            <a:ext cx="6491508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BAE774-BDD6-41D5-A10F-90BEC63B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2130552"/>
            <a:ext cx="649150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5933A1B-C0B0-489A-BB0C-84203BFB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2" y="1874520"/>
            <a:ext cx="60525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LLM 语义引擎（爱码）</a:t>
            </a:r>
            <a:endParaRPr sz="1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EF4A18F-36B0-4C0B-A301-525FE1C0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836" y="2423160"/>
            <a:ext cx="5988588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病史 / 家族史文本语义归类至评分档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关键风险因子归纳生成，失败自动降级规则拆解</a:t>
            </a:r>
            <a:endParaRPr sz="115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CC07189-F6FE-45FF-A5FD-EBA037D1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3246120"/>
            <a:ext cx="6491508" cy="1207008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E9790E9-4FBA-44E8-87CA-5B647F96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3246120"/>
            <a:ext cx="6491508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B0123E-6C37-4415-BE11-CBCE46F2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3502152"/>
            <a:ext cx="649150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93695057-0967-4FE4-9FD8-2FB34D09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2" y="3246120"/>
            <a:ext cx="60525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规则引擎（确定性）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01157E8-5320-4DF8-9FD0-82B5F5AA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836" y="3794760"/>
            <a:ext cx="5988588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BMI / 血压 / 烟酒 / 年龄 / 职业 累加计分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直接拒保红线 + 总分 → 风险等级区间（可追溯）</a:t>
            </a:r>
            <a:endParaRPr sz="115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1457D7-9984-4917-AD58-897FE623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516" y="4709160"/>
            <a:ext cx="64915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风险智能分级（规则区间）</a:t>
            </a:r>
            <a:endParaRPr sz="1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192C678B-E4C2-4035-BC17-13A06586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092" y="5038344"/>
            <a:ext cx="1206862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341A1F6-3AF1-4820-8446-5459297D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092" y="5038344"/>
            <a:ext cx="1206862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标准体
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0–45</a:t>
            </a:r>
            <a:endParaRPr sz="10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EA5D8762-C00C-42F3-B41F-826D0EE0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393" y="5038344"/>
            <a:ext cx="1206862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5DBE7E"/>
          </a:solidFill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E5FC52F7-7490-42CC-AF4C-20ED84AF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393" y="5038344"/>
            <a:ext cx="1206862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次标体A
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50–65</a:t>
            </a:r>
            <a:endParaRPr sz="10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9F9A0BE2-57D2-477F-99C2-32B9E201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695" y="5038344"/>
            <a:ext cx="1206862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768AEC-7978-45CA-93B1-F12B9136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695" y="5038344"/>
            <a:ext cx="1206862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次标体B
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70–80</a:t>
            </a:r>
            <a:endParaRPr sz="105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BAEF2D1-D7F8-4B03-B08F-AE19DAE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997" y="5038344"/>
            <a:ext cx="1206862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07B4A"/>
          </a:solidFill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7382C89-9BED-46BA-AB53-1817A45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997" y="5038344"/>
            <a:ext cx="1206862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高风险
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85–95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3A024D02-BC80-4DC1-B582-9A8BC53C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298" y="5038344"/>
            <a:ext cx="1206862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D94C4C"/>
          </a:solidFill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EF282549-145C-4C35-9AB6-7CA6A068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298" y="5038344"/>
            <a:ext cx="1206862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拒保体
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拒保</a:t>
            </a:r>
            <a:endParaRPr sz="105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FEEFBBA-1E90-4BBE-880A-5EA360EA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021671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10BFD52-39B7-4F74-A635-499A988E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0D1A2C7-CB8C-47F2-98E1-83A8E4FD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8B3E3FE-CF0F-4A7A-A29E-7FE6D9E1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② · 时序图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9D115C-6260-4D7C-9CDA-AD1AA0FE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核心业务时序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5A141C7-D31A-4E6F-9B12-D5F3120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8775"/>
            <a:ext cx="11055096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四条关键流程覆盖预测、审批、自然语言交互和规则优化闭环</a:t>
            </a:r>
            <a:endParaRPr sz="13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8D9B3B6-0A71-4A26-89D6-F3460471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10B</a:t>
            </a:r>
            <a:endParaRPr sz="900"/>
          </a:p>
        </p:txBody>
      </p:sp>
      <p:sp>
        <p:nvSpPr>
          <p:cNvPr id="32" name="圆角矩形 31">
            <a:extLst xmlns:a="http://schemas.openxmlformats.org/drawingml/2006/main">
              <a:ext uri="{FF2B5EF4-FFF2-40B4-BE49-F238E27FC236}">
                <a16:creationId xmlns:a16="http://schemas.microsoft.com/office/drawing/2014/main" id="{2484B619-999A-48E4-B728-D9FB37C7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5334000" cy="1952625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E6F2"/>
            </a:solidFill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4">
            <a:srgbClr val="FFFFFF"/>
          </a:effectRef>
          <a:fontRef xmlns:a="http://schemas.openxmlformats.org/drawingml/2006/main" idx="major"/>
        </p:style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C924B7F0-EE81-4DB0-8C5B-03FC8FB7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12A"/>
          </a:solidFill>
          <a:ln xmlns:a="http://schemas.openxmlformats.org/drawingml/2006/main" w="0">
            <a:noFill/>
          </a:ln>
        </p:spPr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89D5F12D-28FE-4C7A-8836-36B0E318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单条核保预测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65" name="图片 6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2da418a8845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53069" y="2295525"/>
            <a:ext cx="2732762" cy="1257300"/>
          </a:xfrm>
          <a:prstGeom xmlns:a="http://schemas.openxmlformats.org/drawingml/2006/main" prst="rect">
            <a:avLst/>
          </a:prstGeom>
        </p:spPr>
      </p:pic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ECF5F455-0664-425C-BCB0-CF80E7BF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495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25694"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预测主链路：读取画像、规则计算、结果回写与置信度留痕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37" name="圆角矩形 36">
            <a:extLst xmlns:a="http://schemas.openxmlformats.org/drawingml/2006/main">
              <a:ext uri="{FF2B5EF4-FFF2-40B4-BE49-F238E27FC236}">
                <a16:creationId xmlns:a16="http://schemas.microsoft.com/office/drawing/2014/main" id="{41E30E9B-A84B-44A8-9C6A-418AB649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5334000" cy="1952625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E6F2"/>
            </a:solidFill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4">
            <a:srgbClr val="FFFFFF"/>
          </a:effectRef>
          <a:fontRef xmlns:a="http://schemas.openxmlformats.org/drawingml/2006/main" idx="major"/>
        </p:style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9F0378FD-B96E-4217-BFD4-516564F2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47875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12A"/>
          </a:solidFill>
          <a:ln xmlns:a="http://schemas.openxmlformats.org/drawingml/2006/main" w="0">
            <a:noFill/>
          </a:ln>
        </p:spPr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9D40430F-495F-4391-8137-9BFF803C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193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人工修整与审批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70" name="图片 6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8e5566b9546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2372" y="2295525"/>
            <a:ext cx="2202257" cy="1257300"/>
          </a:xfrm>
          <a:prstGeom xmlns:a="http://schemas.openxmlformats.org/drawingml/2006/main" prst="rect">
            <a:avLst/>
          </a:prstGeom>
        </p:spPr>
      </p:pic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C0A262B0-B1AC-40D3-A8E0-952FD983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495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25694"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人工干预保留 AI 基线、审核状态与全量审计轨迹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DA83C377-C9BC-4D1C-8869-9D0E298D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5334000" cy="1952625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E6F2"/>
            </a:solidFill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4">
            <a:srgbClr val="FFFFFF"/>
          </a:effectRef>
          <a:fontRef xmlns:a="http://schemas.openxmlformats.org/drawingml/2006/main" idx="major"/>
        </p:style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9CC8EE14-D808-4BC6-A175-625A67FC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12A"/>
          </a:solidFill>
          <a:ln xmlns:a="http://schemas.openxmlformats.org/drawingml/2006/main" w="0">
            <a:noFill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573DA845-CF8A-4F45-A491-BE7EDB74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自然语言指令解析与路由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75" name="图片 7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0e8370bfb48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66942" y="4410075"/>
            <a:ext cx="1505017" cy="1257300"/>
          </a:xfrm>
          <a:prstGeom xmlns:a="http://schemas.openxmlformats.org/drawingml/2006/main" prst="rect">
            <a:avLst/>
          </a:prstGeom>
        </p:spPr>
      </p:pic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214474C2-EB51-4097-94A2-7D2F8FAB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95950"/>
            <a:ext cx="495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25694"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LLM 优先解析，失败时以本地规则兜底并路由到业务服务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4D473CD5-7F68-445B-BF18-638A29E8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5334000" cy="1952625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E6F2"/>
            </a:solidFill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4">
            <a:srgbClr val="FFFFFF"/>
          </a:effectRef>
          <a:fontRef xmlns:a="http://schemas.openxmlformats.org/drawingml/2006/main" idx="major"/>
        </p:style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FB05E7CD-157B-4898-B6A6-20BDD4D9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62425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12A"/>
          </a:solidFill>
          <a:ln xmlns:a="http://schemas.openxmlformats.org/drawingml/2006/main" w="0">
            <a:noFill/>
          </a:ln>
        </p:spPr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551A9AC9-5D8D-435C-9221-F420050C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3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反馈转规则建议闭环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80" name="图片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3a71da4fe44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48819" y="4410075"/>
            <a:ext cx="3009363" cy="1257300"/>
          </a:xfrm>
          <a:prstGeom xmlns:a="http://schemas.openxmlformats.org/drawingml/2006/main" prst="rect">
            <a:avLst/>
          </a:prstGeom>
        </p:spPr>
      </p:pic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A2637F10-428E-40BF-835B-49C5ECD9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695950"/>
            <a:ext cx="495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25694"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反馈、建议、审核与扩展 JSON 数据持久化形成闭环</a:t>
            </a:r>
            <a:endParaRPr>
              <a:solidFill>
                <a:srgbClr val="6670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165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9B2D2E-C676-47C4-AD6F-67FC1AAE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9373FA0-7F11-4498-BADA-26BF5DB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4CC7E7A-DAC4-4DC8-8886-0D4694EB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TECH ③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1C80C6-86B6-42C3-BDC7-B83B6A00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落地核心流程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B995FB-DA12-46EC-BB07-316D60BF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三条主流程贯穿核保全生命周期：自动核保 → 分级审批 → 反馈闭环。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BB0968-A1C7-4003-A722-F13898FF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344119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59A222-62E8-4A5D-BE22-CF4ECE4F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94560"/>
            <a:ext cx="3441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自动核保流程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60AA6F7-F3E8-4AC1-92B9-9F7642C7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97180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6791835-0B0D-42B2-8E0B-6289C2B7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97180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投保数据接入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5DF34E1-7D16-446E-9DBA-8292F52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4644" y="350215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76D3A1B-EB94-46CB-B2FF-A9BB39C0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79476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63F5E1-AF2F-45EC-82E5-81FFFD8C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79476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规则引擎计分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4AE25DD-8B66-4C1F-B872-7688729C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4644" y="432511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423119-ECD8-4883-BD8D-E42954FC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61772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7541429-BA27-4648-A02B-EF288506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61772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语义增强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85B0EA7-EA8D-444D-87DC-6ABE310D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4644" y="514807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A920D9A-7EF1-42AF-BDAC-5D98DE1B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544068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B7E4993-5D32-4A86-AF01-338C1F1C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544068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风险分级 + 结论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860BDD7-0387-42CE-BF6E-4CD0DEAE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4644" y="597103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5BDD9E5-C55B-488E-B1C8-141BABEE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626364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EA413C7-46D6-4CB1-B802-3033DD98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626364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结果备份</a:t>
            </a:r>
            <a:endParaRPr sz="12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644394E-7E7F-48EB-9924-ADEA8A6F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2194560"/>
            <a:ext cx="344119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112E6C7-9AD3-4F44-A35B-A9FF18A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2194560"/>
            <a:ext cx="3441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分级审批流程</a:t>
            </a:r>
            <a:endParaRPr sz="14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3DAE83C-AE0C-485D-8D32-B39D7401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297180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E8A33D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CB324BA-4B8D-4753-8BDE-BB3B0B6A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297180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自动核保</a:t>
            </a:r>
            <a:endParaRPr sz="1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495BB3A-41AD-4FB8-818E-42987403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596" y="350215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4A8729E-2480-471F-AC4F-F2B7C2EE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379476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E8A33D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CF56FA1-16C5-4CE0-BE4F-9C05BF73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379476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人工修整（必填原因）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C25C818-0F10-49A4-92C3-3D9CA5D1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596" y="432511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7C41B76A-95DA-4B48-BC83-AB96ACA0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461772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E8A33D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7F2638B-DA32-448C-873B-20A32698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461772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严重程度判定</a:t>
            </a:r>
            <a:endParaRPr sz="12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1C48B52-72DA-484C-8A0D-DB4D076C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596" y="514807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1427642-1506-4814-8577-B06781AE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544068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E8A33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D7DCEED-3D5F-4327-AD3F-F9B71283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544068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一级/二级分级审批</a:t>
            </a:r>
            <a:endParaRPr sz="12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7DF6DC7-C87B-47DF-B441-D23DC726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596" y="597103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7DD3E6F0-CAD1-4D42-9732-1428ED98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626364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E8A33D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5967AFB-18F8-437C-835C-A54D60AA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920" y="626364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生效 / 驳回回退</a:t>
            </a:r>
            <a:endParaRPr sz="12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510ECF30-7666-4E69-B5B4-9D681C01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832" y="2194560"/>
            <a:ext cx="344119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B15E30E-0536-42BD-B3EF-F9AF4F61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832" y="2194560"/>
            <a:ext cx="3441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反馈闭环流程</a:t>
            </a:r>
            <a:endParaRPr sz="140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681A0B5E-46C7-4E16-BC71-9E359355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297180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2E9E5B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3045A08-74DB-413E-BB3E-F8B7086E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297180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误判申诉 / 规则优化</a:t>
            </a:r>
            <a:endParaRPr sz="12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4002D18D-609D-46EF-A08F-3303A8ED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8548" y="350215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64EF31B0-8E0E-4FBD-BF2D-66A75E6C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379476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2E9E5B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E94DFEAC-AD6A-44E3-899E-5AFFCD53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379476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转规则优化建议</a:t>
            </a:r>
            <a:endParaRPr sz="12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5A7483A7-EE87-4BCD-8AB1-AEA299D8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8548" y="432511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ABB72B5-7791-43F6-A460-69A8F92C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461772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2E9E5B"/>
            </a:solidFill>
            <a:prstDash val="solid"/>
          </a:ln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7718FA6-BB05-499C-89E9-A66BA92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461772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人工确认（采纳/驳回）</a:t>
            </a:r>
            <a:endParaRPr sz="120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07F64F28-7A26-41AB-99B4-ECF012B1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8548" y="514807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A200F0FC-94E5-4C26-96B3-6D8E63B0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544068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2E9E5B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2D10345-4200-42C7-BB79-8901E9FE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544068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反哺规则知识库</a:t>
            </a:r>
            <a:endParaRPr sz="120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5B8FEE30-D834-4613-832D-E5ECA93D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8548" y="5971032"/>
            <a:ext cx="365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7E158BAD-2394-47E2-BEAB-9F6042AA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6263640"/>
            <a:ext cx="2801112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2E9E5B"/>
            </a:solidFill>
            <a:prstDash val="solid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95832C60-D3FB-4728-804E-5A95BDAC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872" y="6263640"/>
            <a:ext cx="280111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越用越准</a:t>
            </a:r>
            <a:endParaRPr sz="1200"/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3BD7E26-AB66-46D8-9910-5C1DC1B4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103442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9BF6672-7D34-466C-B76D-6E3101C9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-91440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6000"/>
            </a:srgbClr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13D1A35-68EE-49F3-8AD8-591B5B36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59436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0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BCE3E8-6797-403D-9DA8-A69D599E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788920"/>
            <a:ext cx="256032" cy="109728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E578DC5-729C-49F2-82B4-8430B411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788920"/>
            <a:ext cx="6035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核心创新亮点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EED769F-1680-43CE-BA9C-36F38902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11880"/>
            <a:ext cx="603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KEY INNOVATIONS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B6C149F-4FD4-4DCA-B41C-20E0F3C1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C30A78-A51F-45A9-B7C0-F6A12107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388286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CCC1C81-6CBB-4A2C-969E-268C3D75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3ECAA5-104B-4DC5-AE54-2CCBA9F0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  <a:endParaRPr sz="2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B0352E-EA78-449C-966C-F1D75C4C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7200"/>
            <a:ext cx="10213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+ 规则引擎双引擎核保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1929AF-7DF6-4290-9333-9DAD73D7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914400"/>
            <a:ext cx="102138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大模型负责“理解”，规则引擎负责“合规兜底”，缺一不可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0526D45-C79F-4EB4-B77C-554BDC70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350215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E33FA27-831A-40D9-8D70-ED7D7B05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73936"/>
            <a:ext cx="201168" cy="457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6C1CDBC-CFD2-4356-A194-D781AE3D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1773936"/>
            <a:ext cx="27706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强在语义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144AE4E-6166-4C58-96D7-B7DAF8E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212848"/>
            <a:ext cx="27249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读懂病史/申诉等非标准文本，做风险语义理解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12DC8E6-0D0D-4DC3-8C51-996B9359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350215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0E4A56-3971-4E31-978B-C07CC2A1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773936"/>
            <a:ext cx="201168" cy="457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50C2EA-40F4-461A-B053-FC856737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773936"/>
            <a:ext cx="27706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规则强在确定性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FF6009C-DE3A-4F29-98F5-17C9FF4A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12848"/>
            <a:ext cx="27249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加费上限、拒保红线、监管硬条款确定性执行、可复现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8623926-B126-4217-BB07-7BD48883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554480"/>
            <a:ext cx="350215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737E17F-860C-4DCD-8E27-5D1C45D0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773936"/>
            <a:ext cx="201168" cy="457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4DD5B2B-92E6-436C-837C-04A3626F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1773936"/>
            <a:ext cx="27706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组合优于单一</a:t>
            </a:r>
            <a:endParaRPr sz="15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6ECAE65-831B-4079-B754-3FC3E7B6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2212848"/>
            <a:ext cx="27249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纯模型有幻觉、纯规则太死板，双引擎又聪明又靠谱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E20F92B-495B-4D4D-BCD6-0B8F0D1C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429000"/>
            <a:ext cx="11055096" cy="251460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D7F1C2D-5383-408E-9993-25406719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611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关键技术特色</a:t>
            </a:r>
            <a:endParaRPr sz="15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BFC6E80-F4A0-46CF-A96B-22FE5643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6908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9385B8C-17D5-4AE0-A66C-468FBA1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050792"/>
            <a:ext cx="479602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规则单一事实来源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risk-rules.json 集中维护，规则引擎与展示页共用，改一处全局生效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3067AD2-1CD3-4455-A997-EA125612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406908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578953-6547-43C0-9AF4-AFFD3E27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084" y="4050792"/>
            <a:ext cx="479602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直接拒保红线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近6月拒保 / 酒精成瘾 / 重度疾病命中即拒保，硬规则不交给模型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24384B7-FB7D-4C24-8D16-0B4925F8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98348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E0F3EBF-49D4-4B12-914A-F86632F2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965192"/>
            <a:ext cx="479602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优雅降级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大模型不可达或失败时自动回退规则拆解，核保流程零中断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4CCFC8A-7AEE-4277-8B28-1541308D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498348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B4B74B0-BFDD-47A4-A0D6-E6CD740B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084" y="4965192"/>
            <a:ext cx="479602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规则命中可追溯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每笔评分记录命中维度与分值，写入审计轨迹（联动创新点④）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F6D302-1FEE-4EE1-BFE7-5B10A82D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449891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E8C9A4B-84E7-4776-BE58-1F10A16F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DB3414B-AD38-4624-A1F7-2459C15E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  <a:endParaRPr sz="2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B5BE272-F05C-4E6A-B1C9-38D7D747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7200"/>
            <a:ext cx="10213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分级审批 · 人机协同闭环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F03F2B8-B3A0-40DD-A7FB-CFFD742E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914400"/>
            <a:ext cx="102138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AI 自动核保 + 人工修整 + 按严重程度分级审批 + 全程留痕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4DB3E6-9589-4DFD-8CA8-35C860AF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603504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E0D80CB-2FFF-4EA3-A4D8-12BC6CAA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55648"/>
            <a:ext cx="5577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修整严重程度自动路由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DD76AB8-89BD-449D-B521-6ACE3C97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40280"/>
            <a:ext cx="5522976" cy="150876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BEEE6"/>
          </a:solidFill>
          <a:ln xmlns:a="http://schemas.openxmlformats.org/drawingml/2006/main" w="12700">
            <a:solidFill>
              <a:srgbClr val="E07B4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A21B9C9-3F64-4120-AEE7-015BCF9C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77440"/>
            <a:ext cx="5212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C15A2E"/>
                </a:solidFill>
                <a:latin typeface="微软雅黑"/>
                <a:ea typeface="微软雅黑"/>
                <a:cs typeface="微软雅黑"/>
              </a:rPr>
              <a:t>二级 · 核保主管审批（重大修整）</a:t>
            </a:r>
            <a:endParaRPr sz="13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A247E76-5CC7-4DBC-9073-2ED34669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761488"/>
            <a:ext cx="51663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6B4A38"/>
                </a:solidFill>
                <a:latin typeface="微软雅黑"/>
                <a:ea typeface="微软雅黑"/>
                <a:cs typeface="微软雅黑"/>
              </a:rPr>
              <a:t>结论变更为「拒保」或「延期」</a:t>
            </a:r>
            <a:endParaRPr sz="11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6B4A38"/>
                </a:solidFill>
                <a:latin typeface="微软雅黑"/>
                <a:ea typeface="微软雅黑"/>
                <a:cs typeface="微软雅黑"/>
              </a:rPr>
              <a:t>风险等级升至「高风险体 / 拒保体」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6B4A38"/>
                </a:solidFill>
                <a:latin typeface="微软雅黑"/>
                <a:ea typeface="微软雅黑"/>
                <a:cs typeface="微软雅黑"/>
              </a:rPr>
              <a:t>加费比例变动 &gt; 20%（满足任一即二级）</a:t>
            </a:r>
            <a:endParaRPr sz="11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F810B70-69EE-4141-B758-D01F3E45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86200"/>
            <a:ext cx="5522976" cy="86868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1FB"/>
          </a:solidFill>
          <a:ln xmlns:a="http://schemas.openxmlformats.org/drawingml/2006/main" w="12700">
            <a:solidFill>
              <a:srgbClr val="1C6DD0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856BD2D-802C-4C79-A96F-C72E3FF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86784"/>
            <a:ext cx="5212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一级 · 核保主管审批（普通修整）</a:t>
            </a:r>
            <a:endParaRPr sz="13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E296CD4-7412-41BB-B1B4-3049C50B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2976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3B4A63"/>
                </a:solidFill>
                <a:latin typeface="微软雅黑"/>
                <a:ea typeface="微软雅黑"/>
                <a:cs typeface="微软雅黑"/>
              </a:rPr>
              <a:t>以上条件均不满足的普通修整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D8B6228-8BA5-4889-818D-723CC13C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5522976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系统按 adjSeverity 自动判定层级，无需人工选择。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A621E33-926D-4A46-83E9-FDE12B84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554480"/>
            <a:ext cx="4700016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7406774-8441-4B7B-BB01-B2C63FE8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755648"/>
            <a:ext cx="424281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人机协同闭环</a:t>
            </a:r>
            <a:endParaRPr sz="15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1E2BD83-15FB-4B3A-A694-F601FDA7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5C3BDDD-43A7-4268-9F4F-D363B831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8FE31B1-D637-4A0D-9171-8A1D528A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2157984"/>
            <a:ext cx="369417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自动核保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规则+LLM 出结论，结果永久备份（aiBaseline）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AC50697-23FF-4E37-A0C0-EE923D5B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90779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720D2C3-3531-4C9C-9DB8-7C46CAC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907792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D485E2A-5B79-42CC-A7EE-01477D82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2852928"/>
            <a:ext cx="369417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人工修整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覆写结论/等级/加费，修整原因必填</a:t>
            </a:r>
            <a:endParaRPr sz="13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B57E1BE-B2C5-4F1F-88FC-D6EC5FC1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602736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61D8B8C-ADC5-49FE-A095-3B1F9899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602736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424B733-1B42-47D1-8523-6E4FEAEE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3547872"/>
            <a:ext cx="369417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分级审批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按严重程度路由一级/二级审批</a:t>
            </a:r>
            <a:endParaRPr sz="13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1E714B8-44AD-411C-83F2-5C69512A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12ED5E5-C0F8-4A1E-90E8-A2A76BA1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297680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2995712-FE35-4349-8474-42BF58B7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4242816"/>
            <a:ext cx="369417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审计留痕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AI核保→修整→审批全链时间线</a:t>
            </a:r>
            <a:endParaRPr sz="13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E180833A-2EA9-4B61-BAB3-0152422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99262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AE56347-F331-48BF-B581-A6974CAE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992624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11EF1BB-E99F-433F-80D1-2A119A19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4937760"/>
            <a:ext cx="369417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驳回回退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审批驳回自动回退原结论并留痕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9940C75-357F-4042-B5C2-920EE3F8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4790423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401D407-B16B-4DB1-8FA3-131FCF34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B756CE-60BC-46DF-98A6-E25D1252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  <a:endParaRPr sz="2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57C2BBD-E4A9-4506-ACB8-8F68E243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7200"/>
            <a:ext cx="10213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语义关键风险因子 · 生成即闭环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3D501B-EE50-4C0A-B82F-1CD90C73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914400"/>
            <a:ext cx="102138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规则拆解 + LLM 语义双通道生成，人工可修整、可追溯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02D1F0-74DC-4758-980C-41CAC838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612648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0E23CA2-A5AB-464A-BAE4-6B977F15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55648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双通道生成关键风险因子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B83C750-4C20-409A-A865-6246D086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7712"/>
            <a:ext cx="86868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D240B13-7901-42A9-A42D-82A37187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771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规则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02A9B4D-B485-452B-B42E-50A86C96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267712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规则拆解通道：命中维度与分值，确定性、可解释</a:t>
            </a:r>
            <a:endParaRPr sz="12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5A15BA1-C78C-430C-A60A-C5E6A704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54096"/>
            <a:ext cx="86868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7DD22AC-F8E1-4EB3-AA76-FC9A756E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54096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LLM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1712074-8D41-4967-8A67-4BC41015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054096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增强通道：融合画像语义，归纳核保建议一句话</a:t>
            </a:r>
            <a:endParaRPr sz="1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57EA7DE-11E9-415B-B161-2F29C51A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86868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07B3DE7-FC01-4C52-911B-77DE052F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融合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2C7C17D-31A5-484D-A411-94935953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84048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规则明细 ｜ AI 语义摘要 同栏呈现，兼顾精确与可读</a:t>
            </a:r>
            <a:endParaRPr sz="12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D6A4151-2DE4-4AB6-BA11-F572BBAE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26864"/>
            <a:ext cx="868680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C9762E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7CC8DA2-14EC-46C8-BF53-3D682A1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26864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降级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8EAC3FD-9314-4C9C-A4CA-12D6A06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626864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不可达时自动回退规则拆解，绝不阻断核保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839CB4A-71DD-4429-9B7F-378CA1E0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1554480"/>
            <a:ext cx="4608576" cy="251460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3F660C5-61C4-41D3-AF85-D279A26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737360"/>
            <a:ext cx="415137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人工修整闭环</a:t>
            </a:r>
            <a:endParaRPr sz="15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E4F38F6-B12E-4FEE-8D36-E6FE3B27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148840"/>
            <a:ext cx="1371600" cy="420624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317D40-8B08-4C33-866C-3BDC33FC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148840"/>
            <a:ext cx="13716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生成</a:t>
            </a:r>
            <a:endParaRPr sz="12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D5FD5F-84F3-4CC3-A0A5-D9780DF9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148840"/>
            <a:ext cx="259689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→  预测即产出因子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F6277ED-31FC-4E15-8EC2-BF8EDDFD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34056"/>
            <a:ext cx="1371600" cy="420624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11EB8F3-6A71-430F-95C3-16D1DAE6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34056"/>
            <a:ext cx="13716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人工修整</a:t>
            </a:r>
            <a:endParaRPr sz="1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5FBC452-3E77-46EA-B4B6-24AF8AE7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734056"/>
            <a:ext cx="259689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→  核保员可覆写文本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0A6B381-ACCF-4F3A-99CA-FB69202C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19272"/>
            <a:ext cx="1371600" cy="420624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B37CA20-B923-4E05-A6E6-6CDE341E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19272"/>
            <a:ext cx="13716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审核留痕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C388220-05FE-47D7-B0BF-7A8EE9F7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319272"/>
            <a:ext cx="259689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→  AI 原值↔人工值可溯</a:t>
            </a:r>
            <a:endParaRPr sz="11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317D19E-F36C-431B-B4C7-E753BE82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251960"/>
            <a:ext cx="4608576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B898654-3205-46EF-BC19-2DE09A60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07408"/>
            <a:ext cx="415137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核心价值</a:t>
            </a:r>
            <a:endParaRPr sz="14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3AD4E29-B57F-4299-A9C9-AF8E1409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54880"/>
            <a:ext cx="4105656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负责语义归纳，人工保留最终裁量；关键因子生成即可用、可改、可追溯，把 AI 的解释力真正沉淀进核保闭环。</a:t>
            </a:r>
            <a:endParaRPr sz="12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3DC7DF6-2ED7-4549-BA93-9876AB5E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804805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AD967EF-D03D-4FFF-9FAC-9C14A0F6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815ECB-15D4-4E3A-BFEC-FE16410C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  <a:endParaRPr sz="2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FDFB601-13A4-4154-86EB-F9A6AAD4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7200"/>
            <a:ext cx="10213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可解释核保 · AI 决策审计轨迹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D6833AE-D7C2-463E-8826-21228906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914400"/>
            <a:ext cx="102138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每一步 AI 决策都有 输入 / 输出 / 规则来源 / 置信度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FE21461-89F5-46CB-95D0-C41F68E8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640080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A90991D-0BE6-4C88-999E-A4CF907B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594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审计轨迹示例（单条决策）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150C698-F3C7-4766-A375-CBE87260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221992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A4D406D-7EED-45F3-AFBA-1AC98713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2441448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6F2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0D2133-9BB7-481A-A45A-CDE27302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2130552"/>
            <a:ext cx="5486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自动核保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规则引擎 + LLM 双引擎 → 结论 / 等级 / 加费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DE1E1F3-CD21-4FB9-ADD6-FD92FD46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935224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B579D6A-1F03-4541-82BC-999B3DCA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3154680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6F2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004F1A0-6F09-4302-8C73-819D5754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2843784"/>
            <a:ext cx="5486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规则命中记录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命中维度与分值写入 keyFactors（可追溯）</a:t>
            </a:r>
            <a:endParaRPr sz="13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96E35D8-E939-448E-9DA1-A5E17BDC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648456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20D7DA3-D19B-4FBB-ABAC-AF80490D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3867912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6F2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B58C6C5-4A4F-4036-8E15-28F30300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557016"/>
            <a:ext cx="5486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置信度评估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多维扣分信号 → 置信度分 + 审核优先级</a:t>
            </a:r>
            <a:endParaRPr sz="13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6F5FF44-3F85-4707-862D-C8FEAB86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361688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7B4A"/>
          </a:solidFill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6C03CFD-AB7D-4AC7-B94C-F8A3868E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4581144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6F2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98F9290-5184-4FE9-A0EE-1E3C8F02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270248"/>
            <a:ext cx="5486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人工修整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覆写值 vs AI 值对比 + 必填原因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2C07EDE-90A8-4C5D-B80A-DD13A3FA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5074920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672788B-719A-428B-B872-67D4AC65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983480"/>
            <a:ext cx="5486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分级审批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一级/二级审批结论 · 通过生效 / 驳回回退</a:t>
            </a:r>
            <a:endParaRPr sz="13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7AD781-7414-4D1E-8E34-C2445305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1554480"/>
            <a:ext cx="4334256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21A3BC7-FD44-4CBE-9DD6-1463332B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37360"/>
            <a:ext cx="387705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AI 合规与风控价值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E86E601-49AB-4014-8C80-E78E55CE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12848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2E0502-848A-4E7D-A389-A2CD9D91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2176272"/>
            <a:ext cx="35570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可解释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AI 不是黑箱，每步依据完整透明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D676F1-D75D-4897-AFB1-1C78B29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07792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935505E-47A0-41AD-85BC-B32FF610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2871216"/>
            <a:ext cx="35570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可追溯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最终结论可追到每步输入/输出/规则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7CBDC0A-9B97-4883-901A-BE23CB50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02736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06525E8-262C-4084-B0F9-2E212EC1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3566160"/>
            <a:ext cx="35570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可干预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人工可在任意环节介入修正</a:t>
            </a:r>
            <a:endParaRPr sz="13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9A97494-575D-458F-957B-C7D3A094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9768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3F8FA96-164D-470C-8928-7B998394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4261104"/>
            <a:ext cx="35570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兜底机制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LLM 失败自动回退规则，不中断</a:t>
            </a:r>
            <a:endParaRPr sz="13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20D0F94-2EC5-4802-AE8D-6F8007EF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92624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D784AA0-2001-4E48-9CA2-F3168D33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4956048"/>
            <a:ext cx="35570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风控预警
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低置信自动标记，避免错误结论生效</a:t>
            </a:r>
            <a:endParaRPr sz="13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D768CED-8185-47F4-9F66-7D9A72A6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626395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CE7F209-FED1-41FD-A589-B1412F9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6C95A2-08D3-447F-B696-DCC89AFB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</a:t>
            </a:r>
            <a:endParaRPr sz="2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4693316-6E26-4300-B1C1-5AE8BAF5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7200"/>
            <a:ext cx="10213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反馈驱动的规则优化闭环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1EDD4B7-4403-496D-8C9D-5DDB61DE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914400"/>
            <a:ext cx="102138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误判申诉 / 规则优化 → 规则建议 → 人工确认 → 反哺知识库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6C6C0D9-F6A4-45FF-B851-9654DCB6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00200"/>
            <a:ext cx="2523744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F84E8FB-377D-4504-BA31-72995FB3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185623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A20FF8C-7067-4AAB-A00E-B08FE36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1856232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A0EB78E-0C13-4B14-A7C6-A3783D5F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0320"/>
            <a:ext cx="234086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误判申诉 / 规则优化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CA309E7-3769-4CDC-989E-88E2EBDA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926080"/>
            <a:ext cx="22677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业务侧提交反馈，关联核保决策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8506970-C3E4-4814-AC29-0421CBB5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24028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A15EBD8-484E-417E-A899-B5D5EABF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600200"/>
            <a:ext cx="2523744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D63B2A0-2E79-46E0-B748-424B6B00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85623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3CBA02C-E087-4C0C-A3FE-35C6351F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856232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C26255-2C4C-41EA-9142-77E83BE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560320"/>
            <a:ext cx="234086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一键转规则建议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FB13D8C-B22A-4783-AF39-002F66BF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2926080"/>
            <a:ext cx="22677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沉淀为规则优化建议（待确认）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0907E73-ACCD-4BC4-924A-57A6EC2F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744" y="224028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E8CFCAB-9F77-4F68-B6CF-A7366B2A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600200"/>
            <a:ext cx="2523744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07AE9E2-B4E7-452D-BAAA-19752A08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185623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D986C52-14D1-4D9D-9D19-AC7B7623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1856232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346C8F0-2D86-4383-A609-C452B97F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560320"/>
            <a:ext cx="234086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人工确认闸口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68BB1FE-C4B7-4DF5-892B-695A79EB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26080"/>
            <a:ext cx="22677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内部质检 / 管理员 采纳或驳回</a:t>
            </a:r>
            <a:endParaRPr sz="10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0153979-9997-4D3F-AE56-22C96FCD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24028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9AEDFA4-C597-4CD7-99A0-00E84741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600200"/>
            <a:ext cx="2523744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628C661-F78E-46AE-84E4-C34540D0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185623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CE4CCF6-1484-4543-A6CB-C28C882D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1856232"/>
            <a:ext cx="621792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2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1F6BCBE-2FD0-43A1-B2CE-E7BBE27E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560320"/>
            <a:ext cx="234086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反哺规则知识库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1E0373-5F6D-41E3-AD2E-D541423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926080"/>
            <a:ext cx="22677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采纳项优化规则，越用越准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011B96D-76B0-4B1B-8E7D-195623E4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657600"/>
            <a:ext cx="576072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12700">
            <a:solidFill>
              <a:srgbClr val="DCE6F2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CC1520C-4BB1-4BEF-8143-A358F221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2"/>
            <a:ext cx="53035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人工闸口设计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7431A09-2435-4E40-8346-BCBB2CE0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06240"/>
            <a:ext cx="5257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建议态需人工确认才生效，不自动改写线上规则 —— 保险场景规则变更必须留人工闸口，与审计留痕一致。含采纳率等闭环成效统计。</a:t>
            </a:r>
            <a:endParaRPr sz="11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9800833-BF77-4788-9A42-F9E152F7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57600"/>
            <a:ext cx="5020056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404141D-8FEF-44EE-9C69-1F768AED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22192"/>
            <a:ext cx="45720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后期版本规划</a:t>
            </a:r>
            <a:endParaRPr sz="14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8FAACD8-A8F2-41D2-BB12-EA38B3C2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06240"/>
            <a:ext cx="4581144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规则自学习：从采纳建议自动生成规则草案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多模态核保：OCR 识别病历 / 体检报告</a:t>
            </a:r>
            <a:endParaRPr sz="110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向量知识库：检索既往相似核保案例</a:t>
            </a:r>
            <a:endParaRPr sz="11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0E458901-9A72-471C-972A-733AA0E7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212758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D77332F-A6A9-484C-A9DD-88224683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-91440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6000"/>
            </a:srgbClr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C519EC-04FE-4F51-9480-657DF3A4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59436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0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897935-92E7-4454-B7EC-399F0273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788920"/>
            <a:ext cx="256032" cy="109728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0AA3223-7C77-4008-A5F6-53587C85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788920"/>
            <a:ext cx="6035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业务价值与投产比分析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5167BDE-F6A0-4F74-83C5-025EE3EA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11880"/>
            <a:ext cx="603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BUSINESS VALUE &amp; ROI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BD4BDB4-97D8-4F42-B4EC-44592BC6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6F12C82-8EC4-48C3-B0F9-E38874E4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251628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CB210DB-6C45-4E53-AB17-CCAF3346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82BB574-700C-4010-AF8E-D0138011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A068CE2-7C77-4BD5-BBC1-D9605A42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25A9DAE-043D-4E14-A2E7-2A425475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效能对比：显著的降本增效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D30D68-E72D-44BB-A4C7-030A20E6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数据为基于系统能力的测算，具体数值请结合实际业务量校准。【待核实】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41627E1-2AB9-4905-886E-9054AC9D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031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2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8FF5D58-58E9-480E-B21D-0F9989F6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10312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改进前（人工）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6DC4970-037D-4069-8B2D-E0C3ACD1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10312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改进后（AI 系统）</a:t>
            </a:r>
            <a:endParaRPr sz="12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321B911-F74B-4E47-89AD-99BC00F2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2103120"/>
            <a:ext cx="14081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提升</a:t>
            </a:r>
            <a:endParaRPr sz="12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8674400-82E6-4522-B883-3FC9F4AF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0"/>
            <a:ext cx="24688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ED64961-15A7-4A59-9575-334B3185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60320"/>
            <a:ext cx="24688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单件核保时长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2253015-C5F7-4788-BE19-644A5F26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560320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F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56447FF-2867-4DE5-AFD8-8A6231AB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2560320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人工 0.5–1 小时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F9698CB-E2EC-44A0-8A60-115D3DE1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560320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C94AADA-7F6D-4EB0-ACDA-9E07EE21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2560320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AI 秒级出结论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55B42F9-50CB-4444-B7DB-04B8075E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2560320"/>
            <a:ext cx="1408176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B4E88BC-8072-43FC-9E13-8896B627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2560320"/>
            <a:ext cx="14081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耗时缩短 98.3%–99.2%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BEFDF4-6493-4236-8DF5-02536926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73552"/>
            <a:ext cx="24688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1225BEC-98BF-4A98-9656-F91D96A2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73552"/>
            <a:ext cx="24688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模型准确率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D669FD5-70C7-4969-99E9-DC79F8D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273552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F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195C7DB-FD0A-4CEC-913B-C24AC95D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273552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依赖个人经验，口径不一</a:t>
            </a:r>
            <a:endParaRPr sz="12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6A9FDF1-E0ED-4FC1-B708-94390A41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273552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036A5DA-36AA-4D1E-8A75-4DAFB122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73552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规则引擎统一口径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E6DD5EC-329E-45D4-A95C-6209F080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3273552"/>
            <a:ext cx="1408176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E86DE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2D7E897-1751-4F93-9501-A0C6F212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3273552"/>
            <a:ext cx="14081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准确率 85%→95%</a:t>
            </a:r>
            <a:endParaRPr sz="11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A501413-9066-4F00-BF3A-0B96AA22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986784"/>
            <a:ext cx="24688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6A79AAB-7E65-442A-998A-15410D7F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986784"/>
            <a:ext cx="24688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风险漏判 / 误判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E1B57D37-C074-425B-B392-1A0B032B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986784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F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918E681-170F-4FB7-9B8C-6043AF43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986784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疲劳与主观致漏判</a:t>
            </a:r>
            <a:endParaRPr sz="12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8C5F2CA-F87D-4EA6-ACD9-56DFE152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986784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A0302F5-DA06-4D66-A87E-A5E878E5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986784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规则+AI语义双引擎把关</a:t>
            </a:r>
            <a:endParaRPr sz="12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C03B85C-9FF1-49E8-8F8F-02EC7667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3986784"/>
            <a:ext cx="1408176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F34E2DD-10D6-4298-BCA3-6A14C918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3986784"/>
            <a:ext cx="14081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质量提升</a:t>
            </a:r>
            <a:endParaRPr sz="11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04784A48-E366-4D66-B599-38FADD57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00016"/>
            <a:ext cx="24688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060AD7EC-E971-4757-92C1-3B5D640C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00016"/>
            <a:ext cx="24688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合规留痕</a:t>
            </a:r>
            <a:endParaRPr sz="12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CE5B7CA-556C-472F-916B-63C617FA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700016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F"/>
          </a:solidFill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21382B2-2FBD-4022-BAA7-D0F6FA9D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4700016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依据难以完整追溯</a:t>
            </a:r>
            <a:endParaRPr sz="12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50D96F4E-85D2-4545-A147-563C0C10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4700016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E502FC3-5ADD-4DF7-86A3-2BF1E57F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4700016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全链审计轨迹可追溯</a:t>
            </a:r>
            <a:endParaRPr sz="120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F71254B-2266-4560-9C0C-A96CE53A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4700016"/>
            <a:ext cx="1408176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E9E5B"/>
          </a:solidFill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06F4B37-BCCF-4139-9BA1-45174579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4700016"/>
            <a:ext cx="14081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监管友好</a:t>
            </a:r>
            <a:endParaRPr sz="115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F41D29DF-E1A8-4C94-A713-9C47F66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13248"/>
            <a:ext cx="24688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C5E2F3E9-9CB3-4EEC-BAF2-478E4BDE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13248"/>
            <a:ext cx="24688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决策时效</a:t>
            </a:r>
            <a:endParaRPr sz="125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3B447627-9DBD-4378-BAA5-AEDC2DDB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413248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F"/>
          </a:solidFill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D9B9A743-4EC9-40EE-85B5-5208D881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5413248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数据滞后，事后回溯</a:t>
            </a:r>
            <a:endParaRPr sz="12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E8860940-2FAE-482C-B01F-D5EFF5A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5413248"/>
            <a:ext cx="3383280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B2CB837E-D4BA-48E8-B8FB-0D969328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5413248"/>
            <a:ext cx="32004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实时数据看板</a:t>
            </a:r>
            <a:endParaRPr sz="1200"/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43E2F489-A641-47E0-968E-7AF63023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5413248"/>
            <a:ext cx="1408176" cy="603504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C8FBE"/>
          </a:solidFill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FADC6D31-53B2-44D4-8D34-6988013B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5413248"/>
            <a:ext cx="14081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 T+0</a:t>
            </a:r>
            <a:endParaRPr sz="115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4DBAE7CC-80B5-4A5F-9757-977EBC9E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19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308190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65C9D7-8167-4E47-9CBC-5F96A8A7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05F5463-64FA-47C2-95A5-0856FE31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21DD38-C152-4B78-8572-EFDEFDC0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F5F083E-44E1-4B05-AED3-7A729B9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 / ROI 分析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75E183-D42B-4013-8EC1-810C83DD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按竞赛演示场景的人力口径预估：投入与节省将在投产后按运营数据复核。【预估】</a:t>
            </a:r>
            <a:endParaRPr sz="12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985C805-7436-4D17-863B-A545ACD7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148840"/>
            <a:ext cx="5852160" cy="393192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C490C37-E8E9-4981-89D0-D13223C6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31720"/>
            <a:ext cx="5394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投入与产出（月度测算）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587816D-DC0D-4B83-A9CB-0AA6D5F0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8892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一次性投入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58F3606-0407-4BDA-AEF5-A3CE99A9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78892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前端 / 后端 / 测试投入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7A075F5-5524-4A45-B4F6-B2187B28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834640"/>
            <a:ext cx="123444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5BE1E28-0237-4A5D-AAF3-909700AA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834640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7.5 人天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ED3F58C-EB4B-4011-87BE-74A1FF5C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410712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月度运营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9DF116C-C97A-4163-8B68-E10A7D76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410712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系统维护与模型监控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4CCF4CF-D124-422F-894E-E3757963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456432"/>
            <a:ext cx="123444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2CDB67E-A5E2-4CC0-A0C2-83394DC0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456432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0.5 人天 /月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C1B339C-34E8-485A-ABC1-8531B6AF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32504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人力节省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12A966E-2287-484D-BA88-329E8FC3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032504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初审与复核工作量减少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B28C7B2-D964-42B5-9F44-97811D41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4078224"/>
            <a:ext cx="123444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F6DE4A5-61A9-4CB1-9E9E-F19E7631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4078224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37.5 人天 /月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E5AB551-B943-45BA-A939-7CBAD1EE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654296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质量收益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958C2EB-B747-464A-9E6A-525C1C44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654296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规则覆盖与模型准确率提升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C558250-4479-4C3F-83B3-F0607330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4700016"/>
            <a:ext cx="123444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61170BC-8E39-4E5F-BDBA-EF93A44A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4700016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准确率 +15个百分点</a:t>
            </a:r>
            <a:endParaRPr sz="11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7E7AF6D-4419-41B9-9991-9D2BE927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76088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投资回收期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BB1EE71-7EB6-4492-AA37-169B8656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5276088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一次投入 / 月净人力节省</a:t>
            </a:r>
            <a:endParaRPr sz="11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BEB793DE-D6AE-4439-88BC-605ADDEB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5321808"/>
            <a:ext cx="123444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B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A5D895B-4FFA-4FE1-B83F-76F1FC18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5321808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0.2 个月</a:t>
            </a:r>
            <a:endParaRPr sz="11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5D0C587-7EC2-499F-B172-F297188B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2148840"/>
            <a:ext cx="4882896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CE6F2"/>
            </a:solidFill>
            <a:prstDash val="solid"/>
          </a:ln>
          <a:effectLst xmlns:a="http://schemas.openxmlformats.org/drawingml/2006/main"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8E9AAF4-C881-4C9C-87CD-DE182F22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313432"/>
            <a:ext cx="44256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人力复核量对比（示意）</a:t>
            </a:r>
            <a:endParaRPr sz="1350"/>
          </a:p>
        </p:txBody>
      </p:sp>
      <p:graphicFrame>
        <p:nvGraphicFramePr>
          <p:cNvPr id="67" name="Chart 0"/>
          <p:cNvGraphicFramePr/>
          <p:nvPr/>
        </p:nvGraphicFramePr>
        <p:xfrm>
          <a:off xmlns:a="http://schemas.openxmlformats.org/drawingml/2006/main" x="6967728" y="2697480"/>
          <a:ext xmlns:a="http://schemas.openxmlformats.org/drawingml/2006/main" cx="4425696" cy="16916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d8c3554b3c4c74"/>
          </a:graphicData>
        </a:graphic>
      </p:graphicFrame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1FD5A0C-D504-4AA6-B0CD-32207320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4709160"/>
            <a:ext cx="4882896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3315C"/>
          </a:solidFill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E896881-7CE7-4582-92A8-F8F78749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846320"/>
            <a:ext cx="442569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人工复核量预计下降 </a:t>
            </a: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65%+</a:t>
            </a: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【预估】</a:t>
            </a:r>
            <a:endParaRPr sz="140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8EADD0DE-1934-48E1-B147-14E9073E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257800"/>
            <a:ext cx="4379976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高置信自动放行 + 分级审批聚焦重大单，人力投入显著下降，投资回收期短。</a:t>
            </a:r>
            <a:endParaRPr sz="115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7E6C8A3B-44FF-4D2E-9D87-E98F473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671337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65C9D7-8167-4E47-9CBC-5F96A8A7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05F5463-64FA-47C2-95A5-0856FE31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21DD38-C152-4B78-8572-EFDEFDC0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F5F083E-44E1-4B05-AED3-7A729B9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投产比分析：投入成本明细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75E183-D42B-4013-8EC1-810C83DD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覆盖开发人力、Token 调用、批量处理与硬件资源，金额单位为人民币。【预估】</a:t>
            </a:r>
            <a:endParaRPr sz="1200"/>
          </a:p>
        </p:txBody>
      </p:sp>
      <p:graphicFrame>
        <p:nvGraphicFramePr>
          <p:cNvPr id="59" name="Chart 0"/>
          <p:cNvGraphicFramePr/>
          <p:nvPr/>
        </p:nvGraphicFramePr>
        <p:xfrm>
          <a:off xmlns:a="http://schemas.openxmlformats.org/drawingml/2006/main" x="6967728" y="2697480"/>
          <a:ext xmlns:a="http://schemas.openxmlformats.org/drawingml/2006/main" cx="4425696" cy="16916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6341e0559f4ce2"/>
          </a:graphicData>
        </a:graphic>
      </p:graphicFrame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7E6C8A3B-44FF-4D2E-9D87-E98F473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900"/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6642C3-8E16-4447-A60D-BB1661C1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85950"/>
            <a:ext cx="1127760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A9513B-7B7B-4E4B-AA45-A3973F92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C9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21DEB5-5687-42B9-9D1B-8EB57B10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812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1.1. 开发人力成本</a:t>
            </a:r>
          </a:p>
        </p:txBody>
      </p:sp>
      <p:graphicFrame>
        <p:nvGraphicFramePr>
          <p:cNvPr id="64" name=""/>
          <p:cNvGraphicFramePr/>
          <p:nvPr/>
        </p:nvGraphicFramePr>
        <p:xfrm>
          <a:off xmlns:a="http://schemas.openxmlformats.org/drawingml/2006/main" x="571500" y="2266950"/>
          <a:ext xmlns:a="http://schemas.openxmlformats.org/drawingml/2006/main" cx="5191125" cy="1143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47875"/>
                <a:gridCol w="1000125"/>
                <a:gridCol w="1000125"/>
                <a:gridCol w="1143000"/>
              </a:tblGrid>
              <a:tr h="228600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角色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工时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单价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成本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2860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后端开发（Java）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32h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60元/h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1,920元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前端开发（Vue）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15h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60元/h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900元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2860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测试 / 压测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13h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60元/h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780元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一次性开发投入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60h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3,600元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218474-4361-4716-A3B2-359807AE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83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0C7CFF-D86B-4C63-868E-CC55E389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1.2. 模型与 Token 成本（单次交互预估）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571500" y="3905250"/>
          <a:ext xmlns:a="http://schemas.openxmlformats.org/drawingml/2006/main" cx="5191125" cy="18478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66875"/>
                <a:gridCol w="1000125"/>
                <a:gridCol w="1000125"/>
                <a:gridCol w="762000"/>
                <a:gridCol w="762000"/>
              </a:tblGrid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调用场景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Token 输入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Token 输出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单次成本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频率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意图识别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约1,500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0.03元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每次查询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回复生成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约2,000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约500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0.05元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每次查询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项目名称映射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约1,000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0.03元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每条记录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项目差异对比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约2,000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约300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0.04元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每条记录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单条记录分析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0.07元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每条记录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单次自然语言查询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0.08元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每次查询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17C4B1-0677-4382-A5AA-FD822565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C9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29ED57A-BF08-46F2-A6D9-5BA8496F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812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1.3. 批量处理成本</a:t>
            </a:r>
          </a:p>
        </p:txBody>
      </p:sp>
      <p:graphicFrame>
        <p:nvGraphicFramePr>
          <p:cNvPr id="70" name=""/>
          <p:cNvGraphicFramePr/>
          <p:nvPr/>
        </p:nvGraphicFramePr>
        <p:xfrm>
          <a:off xmlns:a="http://schemas.openxmlformats.org/drawingml/2006/main" x="6191250" y="2266950"/>
          <a:ext xmlns:a="http://schemas.openxmlformats.org/drawingml/2006/main" cx="5429250" cy="1143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71625"/>
                <a:gridCol w="1047750"/>
                <a:gridCol w="1619250"/>
                <a:gridCol w="1190625"/>
              </a:tblGrid>
              <a:tr h="285750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场景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记录数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LLM 调用次数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总成本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85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项目分析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200（映射+对比）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14元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费用计算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100（对比）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4元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85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异常检测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100（对比）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4元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50820B-A485-4955-AAE0-FFFDE0D7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83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1C820F-1293-4AFE-83D9-0995B06A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1.4. 月度 Token 成本汇总</a:t>
            </a:r>
          </a:p>
        </p:txBody>
      </p:sp>
      <p:graphicFrame>
        <p:nvGraphicFramePr>
          <p:cNvPr id="73" name=""/>
          <p:cNvGraphicFramePr/>
          <p:nvPr/>
        </p:nvGraphicFramePr>
        <p:xfrm>
          <a:off xmlns:a="http://schemas.openxmlformats.org/drawingml/2006/main" x="6191250" y="3905250"/>
          <a:ext xmlns:a="http://schemas.openxmlformats.org/drawingml/2006/main" cx="5429250" cy="904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62125"/>
                <a:gridCol w="2333625"/>
                <a:gridCol w="1333500"/>
              </a:tblGrid>
              <a:tr h="226219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成本项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计算逻辑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月度成本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2621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自然语言查询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500次 / 天 × 单次调用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2621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批量分析任务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50次 / 月 × 批量处理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700元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26219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Token 成本小计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1,700元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BADBDE-D883-415B-A1D2-89DBECBD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9A25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BEF1463-05C4-4EFF-AA19-DF5DE5EF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48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1.5. 硬件资源与月度运营成本</a:t>
            </a:r>
          </a:p>
        </p:txBody>
      </p:sp>
      <p:graphicFrame>
        <p:nvGraphicFramePr>
          <p:cNvPr id="76" name=""/>
          <p:cNvGraphicFramePr/>
          <p:nvPr/>
        </p:nvGraphicFramePr>
        <p:xfrm>
          <a:off xmlns:a="http://schemas.openxmlformats.org/drawingml/2006/main" x="6191250" y="5334000"/>
          <a:ext xmlns:a="http://schemas.openxmlformats.org/drawingml/2006/main" cx="5429250" cy="7905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19250"/>
                <a:gridCol w="1762125"/>
                <a:gridCol w="904875"/>
                <a:gridCol w="1143000"/>
              </a:tblGrid>
              <a:tr h="197644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组件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数量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月成本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197644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后端 / 前端 / 网关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2核4G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1,150元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97644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PostgreSQL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共享主机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350元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197644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硬件 + Token 月运营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3,200元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7133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65C9D7-8167-4E47-9CBC-5F96A8A7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C6DD0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05F5463-64FA-47C2-95A5-0856FE31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4632"/>
            <a:ext cx="128016" cy="128016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A33D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21DD38-C152-4B78-8572-EFDEFDC0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86384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F5F083E-44E1-4B05-AED3-7A729B9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24128"/>
            <a:ext cx="1105509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投产比分析：产出效益与 ROI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75E183-D42B-4013-8EC1-810C83DD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10550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聚焦效率、人工成本、质量价值与年度收益，金额单位为人民币。【预估】</a:t>
            </a:r>
            <a:endParaRPr sz="1200"/>
          </a:p>
        </p:txBody>
      </p:sp>
      <p:graphicFrame>
        <p:nvGraphicFramePr>
          <p:cNvPr id="59" name="Chart 0"/>
          <p:cNvGraphicFramePr/>
          <p:nvPr/>
        </p:nvGraphicFramePr>
        <p:xfrm>
          <a:off xmlns:a="http://schemas.openxmlformats.org/drawingml/2006/main" x="6967728" y="2697480"/>
          <a:ext xmlns:a="http://schemas.openxmlformats.org/drawingml/2006/main" cx="4425696" cy="16916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25b8f3f9894f6a"/>
          </a:graphicData>
        </a:graphic>
      </p:graphicFrame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7E6C8A3B-44FF-4D2E-9D87-E98F473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22</a:t>
            </a:r>
            <a:endParaRPr sz="900"/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5EED0A-69B3-4F59-9187-D29D57F6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85950"/>
            <a:ext cx="1127760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0F3A74-5E3E-4061-A025-C7528AF8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9C9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BD325E-7A95-4D1B-BC3A-49BE6379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812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2.1. 效率提升对比</a:t>
            </a:r>
          </a:p>
        </p:txBody>
      </p:sp>
      <p:graphicFrame>
        <p:nvGraphicFramePr>
          <p:cNvPr id="64" name=""/>
          <p:cNvGraphicFramePr/>
          <p:nvPr/>
        </p:nvGraphicFramePr>
        <p:xfrm>
          <a:off xmlns:a="http://schemas.openxmlformats.org/drawingml/2006/main" x="571500" y="2266950"/>
          <a:ext xmlns:a="http://schemas.openxmlformats.org/drawingml/2006/main" cx="11049000" cy="14478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2571750"/>
                <a:gridCol w="2571750"/>
                <a:gridCol w="3429000"/>
              </a:tblGrid>
              <a:tr h="289560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改进前（人工）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改进后（AI系统）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提升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8956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单件处理时间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0.5～1小时（1,800～3,600秒）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30秒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60～120倍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异常发现周期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1～2个月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60秒（实时）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月级→分钟级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8956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日处理量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8～16件 / 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1,000件 / 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6～121倍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模型准确率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80%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95%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提升15个百分点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91E517-1C80-49CB-8442-B936CA33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67175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83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18C150-C114-40D4-A41A-6EE15287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48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2.2. 人力成本节省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571500" y="4333875"/>
          <a:ext xmlns:a="http://schemas.openxmlformats.org/drawingml/2006/main" cx="5238750" cy="952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71625"/>
                <a:gridCol w="1238250"/>
                <a:gridCol w="1285875"/>
                <a:gridCol w="1143000"/>
              </a:tblGrid>
              <a:tr h="238125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核保场景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原需人力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现需人力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月节约金额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381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费用核对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3～5人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1人（仅复核）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14,000元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381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异常监测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1人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0人（自动）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4,000元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381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合计月节省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18,000元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544DE3-54E7-4FE0-A8BE-7393BB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1175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83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5E41C4-509A-4B5D-81EF-C5ECF815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2.3. 质量收益评估</a:t>
            </a:r>
          </a:p>
        </p:txBody>
      </p:sp>
      <p:graphicFrame>
        <p:nvGraphicFramePr>
          <p:cNvPr id="70" name=""/>
          <p:cNvGraphicFramePr/>
          <p:nvPr/>
        </p:nvGraphicFramePr>
        <p:xfrm>
          <a:off xmlns:a="http://schemas.openxmlformats.org/drawingml/2006/main" x="571500" y="5857875"/>
          <a:ext xmlns:a="http://schemas.openxmlformats.org/drawingml/2006/main" cx="5238750" cy="5905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76375"/>
                <a:gridCol w="2047875"/>
                <a:gridCol w="1714500"/>
              </a:tblGrid>
              <a:tr h="196850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效益项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说明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价值评估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1968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费率计算准确率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80%提升至95%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提升15个百分点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968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异常实时发现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月级缩短至分钟级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降低漏判风险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BD67B8-951A-447C-B3F7-5E6FCD4C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67175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9A25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D08D44-E36D-4F7F-B5D5-BC24160E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3.1. ROI 计算（按月）</a:t>
            </a:r>
          </a:p>
        </p:txBody>
      </p:sp>
      <p:graphicFrame>
        <p:nvGraphicFramePr>
          <p:cNvPr id="73" name=""/>
          <p:cNvGraphicFramePr/>
          <p:nvPr/>
        </p:nvGraphicFramePr>
        <p:xfrm>
          <a:off xmlns:a="http://schemas.openxmlformats.org/drawingml/2006/main" x="6191250" y="4333875"/>
          <a:ext xmlns:a="http://schemas.openxmlformats.org/drawingml/2006/main" cx="5429250" cy="12001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62125"/>
                <a:gridCol w="1476375"/>
                <a:gridCol w="2190750"/>
              </a:tblGrid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金额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计算依据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一次性投入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3,600元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开发人力成本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月度运营成本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3,200元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1,500元硬件 + 1,700元Token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月度收益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21,000元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18,000元人力 + 3,000元质量收益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月度净收益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17,800元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收益 − 运营成本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200025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运营 ROI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556%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月度净收益 ÷ 运营成本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E4D987-7900-4550-A5CE-7697B093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91175"/>
            <a:ext cx="4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9A25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BF83C40-A84B-4CAF-AE94-B10289B4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572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472"/>
          </a:bodyPr>
          <a:lstStyle xmlns:a="http://schemas.openxmlformats.org/drawingml/2006/main"/>
          <a:p xmlns:a="http://schemas.openxmlformats.org/drawingml/2006/main">
            <a:pPr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3.2. 年度收益预测</a:t>
            </a:r>
          </a:p>
        </p:txBody>
      </p:sp>
      <p:graphicFrame>
        <p:nvGraphicFramePr>
          <p:cNvPr id="76" name=""/>
          <p:cNvGraphicFramePr/>
          <p:nvPr/>
        </p:nvGraphicFramePr>
        <p:xfrm>
          <a:off xmlns:a="http://schemas.openxmlformats.org/drawingml/2006/main" x="6191250" y="5857875"/>
          <a:ext xmlns:a="http://schemas.openxmlformats.org/drawingml/2006/main" cx="5429250" cy="666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52500"/>
                <a:gridCol w="1238250"/>
                <a:gridCol w="1619250"/>
                <a:gridCol w="1619250"/>
              </a:tblGrid>
              <a:tr h="166688"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年度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累计投入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累计收益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113B68"/>
                          </a:solidFill>
                        </a:rPr>
                        <a:t>累计净收益</a:t>
                      </a:r>
                    </a:p>
                  </a:txBody>
                  <a:tcPr marL="91440" marR="91440" marT="45720" marB="45720">
                    <a:solidFill>
                      <a:srgbClr val="E3EFFA"/>
                    </a:solidFill>
                  </a:tcPr>
                </a:tc>
              </a:tr>
              <a:tr h="166688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第1年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42,000元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252,000元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210,000元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66688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>
                          <a:solidFill>
                            <a:srgbClr val="34495E"/>
                          </a:solidFill>
                        </a:rPr>
                        <a:t>第2年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38,400元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252,000元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>
                          <a:solidFill>
                            <a:srgbClr val="34495E"/>
                          </a:solidFill>
                        </a:rPr>
                        <a:t>213,600元</a:t>
                      </a:r>
                    </a:p>
                  </a:txBody>
                  <a:tcPr marL="91440" marR="91440" marT="45720" marB="45720">
                    <a:solidFill>
                      <a:srgbClr val="F7FAFD"/>
                    </a:solidFill>
                  </a:tcPr>
                </a:tc>
              </a:tr>
              <a:tr h="166688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694" b="1">
                          <a:solidFill>
                            <a:srgbClr val="087A3F"/>
                          </a:solidFill>
                        </a:rPr>
                        <a:t>2年合计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80,400元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504,000元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694" b="1">
                          <a:solidFill>
                            <a:srgbClr val="087A3F"/>
                          </a:solidFill>
                        </a:rPr>
                        <a:t>423,600元</a:t>
                      </a:r>
                    </a:p>
                  </a:txBody>
                  <a:tcPr marL="91440" marR="91440" marT="45720" marB="45720"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7133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331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F066DD-488B-4795-B9AE-A728FAE8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280160" y="365760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DD0">
              <a:alpha val="24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147131A-041A-4101-A6FA-91136D3A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-146304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6DE">
              <a:alpha val="20000"/>
            </a:srgbClr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F2CC035-F418-4C2F-B18A-639C32D0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68880"/>
            <a:ext cx="12188952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开启智能核保新篇章</a:t>
            </a:r>
            <a:endParaRPr sz="4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D3489D6-EA98-41BC-A045-F0ECABEF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83280"/>
            <a:ext cx="1218895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AI + 规则引擎双引擎  ·  分级审批  ·  可解释可追溯  ·  越用越准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9160A29-A1FE-45F9-B2CE-CEEE2731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97680"/>
            <a:ext cx="1218895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感谢聆听 · 敬请指正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653C352-22C9-4D40-9BD9-967002B9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20273CF-DB85-42BE-8687-81C4727C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6473952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991735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2026-09-20T09:16:35.1760000Z</dcterms:created>
  <dcterms:modified xsi:type="dcterms:W3CDTF">2026-09-20T09:16:35.1760000Z</dcterms:modified>
</coreProperties>
</file>