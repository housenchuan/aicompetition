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88825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>
              <a:srgbClr val="1C6DD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C6DD0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9E5B"/>
              </a:solidFill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100" b="0" i="0" u="none" strike="noStrike" kern="1200" baseline="0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9a6249e-1cb5-4572-a987-65be2af769a9}"/>
      </c:ext>
    </c:extLst>
  </c:chart>
  <c:spPr>
    <a:noFill/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>
              <a:srgbClr val="1C6DD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C6DD0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9E5B"/>
              </a:solidFill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100" b="0" i="0" u="none" strike="noStrike" kern="1200" baseline="0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7c652b0-2429-4f58-baab-160396573551}"/>
      </c:ext>
    </c:extLst>
  </c:chart>
  <c:spPr>
    <a:noFill/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复核量</c:v>
                </c:pt>
              </c:strCache>
            </c:strRef>
          </c:tx>
          <c:spPr>
            <a:solidFill>
              <a:srgbClr val="1C6DD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C6DD0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9E5B"/>
              </a:solidFill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100" b="0" i="0" u="none" strike="noStrike" kern="1200" baseline="0">
                    <a:solidFill>
                      <a:srgbClr val="1F2733"/>
                    </a:solidFill>
                    <a:latin typeface="微软雅黑"/>
                    <a:ea typeface="微软雅黑"/>
                    <a:cs typeface="微软雅黑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改进前</c:v>
                </c:pt>
                <c:pt idx="1">
                  <c:v>改进后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1F2733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0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e669824-88dc-4765-b4c4-d5214c764c08}"/>
      </c:ext>
    </c:extLst>
  </c:chart>
  <c:spPr>
    <a:noFill/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参考第4页“人工核保的五大核心痛点”，并以横向流程对照说明业务流程改造。人工核保依次经历资料提交、逐项核对、经验研判、人工登记和事后回溯，造成效率低、标准不一、漏判误判、人力成本高与合规留痕困难。智能流程由 Agent 统一受理并编排工具，RiskScoreEngine 基于风险规则知识库完成评分和风险分级，异常情况触发预警后由人工重点复核。申诉与反馈经人工审核后更新规则库，成为后续风险得分计算依据。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本页补充开发人力、Token 单次交互、批量处理、月度 Token 与硬件成本明细。金额为路演预估，投产后以实际调用量和资源账单复核。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本页补充效率、人力节省、质量收益、月度 ROI 与年度收益。金额与效率指标为路演预估，投产后以实际业务数据复核。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8869680" y="-1188720"/>
            <a:ext cx="4754880" cy="4754880"/>
          </a:xfrm>
          <a:prstGeom prst="ellipse">
            <a:avLst/>
          </a:prstGeom>
          <a:solidFill>
            <a:srgbClr val="1C6DD0">
              <a:alpha val="28000"/>
            </a:srgbClr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10241280" y="3108960"/>
            <a:ext cx="3291840" cy="3291840"/>
          </a:xfrm>
          <a:prstGeom prst="ellipse">
            <a:avLst/>
          </a:prstGeom>
          <a:solidFill>
            <a:srgbClr val="2E86DE">
              <a:alpha val="20000"/>
            </a:srgbClr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1371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 spc="3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AI · 智能核保</a:t>
            </a:r>
            <a:endParaRPr sz="14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82880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52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AI + 规则引擎双引擎  ·  自动分级核保  ·  分级审批  ·  可解释可追溯</a:t>
            </a:r>
            <a:endParaRPr sz="18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4114800"/>
            <a:ext cx="1335024" cy="310896"/>
          </a:xfrm>
          <a:prstGeom prst="roundRect">
            <a:avLst>
              <a:gd name="adj" fmla="val 11765"/>
            </a:avLst>
          </a:prstGeom>
          <a:solidFill>
            <a:srgbClr val="2E9E5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475488" y="44805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标准体</a:t>
            </a:r>
            <a:endParaRPr sz="100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1956816" y="4114800"/>
            <a:ext cx="1335024" cy="310896"/>
          </a:xfrm>
          <a:prstGeom prst="roundRect">
            <a:avLst>
              <a:gd name="adj" fmla="val 11765"/>
            </a:avLst>
          </a:prstGeom>
          <a:solidFill>
            <a:srgbClr val="5DBE7E"/>
          </a:solidFill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1865376" y="44805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次标体A</a:t>
            </a:r>
            <a:endParaRPr sz="100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3346704" y="4114800"/>
            <a:ext cx="1335024" cy="310896"/>
          </a:xfrm>
          <a:prstGeom prst="roundRect">
            <a:avLst>
              <a:gd name="adj" fmla="val 11765"/>
            </a:avLst>
          </a:prstGeom>
          <a:solidFill>
            <a:srgbClr val="E8A33D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3255264" y="44805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次标体B</a:t>
            </a:r>
            <a:endParaRPr sz="10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4736592" y="4114800"/>
            <a:ext cx="1335024" cy="310896"/>
          </a:xfrm>
          <a:prstGeom prst="roundRect">
            <a:avLst>
              <a:gd name="adj" fmla="val 11765"/>
            </a:avLst>
          </a:prstGeom>
          <a:solidFill>
            <a:srgbClr val="E07B4A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4645152" y="44805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高风险体</a:t>
            </a:r>
            <a:endParaRPr sz="1000"/>
          </a:p>
        </p:txBody>
      </p:sp>
      <p:sp>
        <p:nvSpPr>
          <p:cNvPr id="15" name="Shape 13"/>
          <p:cNvSpPr>
            <a:spLocks noGrp="1"/>
          </p:cNvSpPr>
          <p:nvPr/>
        </p:nvSpPr>
        <p:spPr>
          <a:xfrm>
            <a:off x="6126480" y="4114800"/>
            <a:ext cx="1335024" cy="310896"/>
          </a:xfrm>
          <a:prstGeom prst="roundRect">
            <a:avLst>
              <a:gd name="adj" fmla="val 11765"/>
            </a:avLst>
          </a:prstGeom>
          <a:solidFill>
            <a:srgbClr val="D94C4C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6035040" y="44805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拒保体</a:t>
            </a:r>
            <a:endParaRPr sz="10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566928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汇报人：___________　|　所属团队：___________　|　2026</a:t>
            </a:r>
            <a:endParaRPr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CONTENTS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3000"/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66928" y="1874520"/>
            <a:ext cx="11055096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68096" y="2048256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1C6DD0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768096" y="2048256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618488" y="2039112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业务痛点及挑战</a:t>
            </a:r>
            <a:endParaRPr sz="19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1618488" y="242316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人工核保的效率、标准、风险与合规困局</a:t>
            </a:r>
            <a:endParaRPr sz="125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566928" y="2990088"/>
            <a:ext cx="11055096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2" name="Shape 10"/>
          <p:cNvSpPr>
            <a:spLocks noGrp="1"/>
          </p:cNvSpPr>
          <p:nvPr/>
        </p:nvSpPr>
        <p:spPr>
          <a:xfrm>
            <a:off x="768096" y="31638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E86DE"/>
          </a:solidFill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768096" y="31638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40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1618488" y="3154680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智能核保 · 系统解决方案</a:t>
            </a:r>
            <a:endParaRPr sz="19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618488" y="3538728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三级角色化功能 · 双引擎架构 · 落地流程</a:t>
            </a:r>
            <a:endParaRPr sz="125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66928" y="4105656"/>
            <a:ext cx="11055096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7" name="Shape 15"/>
          <p:cNvSpPr>
            <a:spLocks noGrp="1"/>
          </p:cNvSpPr>
          <p:nvPr/>
        </p:nvSpPr>
        <p:spPr>
          <a:xfrm>
            <a:off x="768096" y="4279392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E8A33D"/>
          </a:solidFill>
        </p:spPr>
      </p:sp>
      <p:sp>
        <p:nvSpPr>
          <p:cNvPr id="18" name="Text 16"/>
          <p:cNvSpPr>
            <a:spLocks noGrp="1"/>
          </p:cNvSpPr>
          <p:nvPr/>
        </p:nvSpPr>
        <p:spPr>
          <a:xfrm>
            <a:off x="768096" y="4279392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400"/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1618488" y="4270248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核心创新亮点</a:t>
            </a:r>
            <a:endParaRPr sz="190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1618488" y="4654296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双引擎 / 分级审批 / AI语义因子 / 可解释 / 反馈闭环</a:t>
            </a:r>
            <a:endParaRPr sz="1250"/>
          </a:p>
        </p:txBody>
      </p:sp>
      <p:sp>
        <p:nvSpPr>
          <p:cNvPr id="21" name="Shape 19"/>
          <p:cNvSpPr>
            <a:spLocks noGrp="1"/>
          </p:cNvSpPr>
          <p:nvPr/>
        </p:nvSpPr>
        <p:spPr>
          <a:xfrm>
            <a:off x="566928" y="5221224"/>
            <a:ext cx="11055096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2" name="Shape 20"/>
          <p:cNvSpPr>
            <a:spLocks noGrp="1"/>
          </p:cNvSpPr>
          <p:nvPr/>
        </p:nvSpPr>
        <p:spPr>
          <a:xfrm>
            <a:off x="768096" y="53949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E9E5B"/>
          </a:solidFill>
        </p:spPr>
      </p:sp>
      <p:sp>
        <p:nvSpPr>
          <p:cNvPr id="23" name="Text 21"/>
          <p:cNvSpPr>
            <a:spLocks noGrp="1"/>
          </p:cNvSpPr>
          <p:nvPr/>
        </p:nvSpPr>
        <p:spPr>
          <a:xfrm>
            <a:off x="768096" y="5394960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40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1618488" y="5385816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业务价值与投产比分析</a:t>
            </a:r>
            <a:endParaRPr sz="190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1618488" y="5769864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效能对比 · 成本投入 · ROI 与回收期</a:t>
            </a:r>
            <a:endParaRPr sz="125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326880" y="-914400"/>
            <a:ext cx="4206240" cy="4206240"/>
          </a:xfrm>
          <a:prstGeom prst="ellipse">
            <a:avLst/>
          </a:prstGeom>
          <a:solidFill>
            <a:srgbClr val="1C6DD0">
              <a:alpha val="26000"/>
            </a:srgbClr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274320" y="2011680"/>
            <a:ext cx="5943600" cy="2926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0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394960" y="2788920"/>
            <a:ext cx="256032" cy="1097280"/>
          </a:xfrm>
          <a:prstGeom prst="roundRect">
            <a:avLst>
              <a:gd name="adj" fmla="val 21429"/>
            </a:avLst>
          </a:prstGeom>
          <a:solidFill>
            <a:srgbClr val="E8A33D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806440" y="278892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业务痛点及挑战</a:t>
            </a:r>
            <a:endParaRPr sz="4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852160" y="361188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PAIN POINTS &amp; CHALLENGES</a:t>
            </a:r>
            <a:endParaRPr sz="14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01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人工核保的五大核心痛点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传统人工核保依赖个人经验，在效率、标准、风险、成本与合规留痕上均存在系统性瓶颈。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48840"/>
            <a:ext cx="2064715" cy="3840480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/>
          <p:cNvSpPr>
            <a:spLocks noGrp="1"/>
          </p:cNvSpPr>
          <p:nvPr/>
        </p:nvSpPr>
        <p:spPr>
          <a:xfrm>
            <a:off x="566928" y="2148840"/>
            <a:ext cx="2064715" cy="128016"/>
          </a:xfrm>
          <a:prstGeom prst="roundRect">
            <a:avLst>
              <a:gd name="adj" fmla="val 14286"/>
            </a:avLst>
          </a:prstGeom>
          <a:solidFill>
            <a:srgbClr val="1C6DD0"/>
          </a:solidFill>
        </p:spPr>
      </p:sp>
      <p:sp>
        <p:nvSpPr>
          <p:cNvPr id="9" name="Shape 7"/>
          <p:cNvSpPr>
            <a:spLocks noGrp="1"/>
          </p:cNvSpPr>
          <p:nvPr/>
        </p:nvSpPr>
        <p:spPr>
          <a:xfrm>
            <a:off x="1196950" y="2532888"/>
            <a:ext cx="804672" cy="804672"/>
          </a:xfrm>
          <a:prstGeom prst="ellipse">
            <a:avLst/>
          </a:prstGeom>
          <a:solidFill>
            <a:srgbClr val="1C6DD0"/>
          </a:solidFill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1196950" y="253288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2600"/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658368" y="3520440"/>
            <a:ext cx="188183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核对效率低下</a:t>
            </a:r>
            <a:endParaRPr sz="155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749808" y="4069080"/>
            <a:ext cx="1735531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逐项核对病史/体检/规则，耗时耗力</a:t>
            </a:r>
            <a:endParaRPr sz="115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单件人工核保 0.5–1 小时【待核实】</a:t>
            </a:r>
            <a:endParaRPr sz="115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2814523" y="2148840"/>
            <a:ext cx="2064715" cy="3840480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4" name="Shape 12"/>
          <p:cNvSpPr>
            <a:spLocks noGrp="1"/>
          </p:cNvSpPr>
          <p:nvPr/>
        </p:nvSpPr>
        <p:spPr>
          <a:xfrm>
            <a:off x="2814523" y="2148840"/>
            <a:ext cx="2064715" cy="128016"/>
          </a:xfrm>
          <a:prstGeom prst="roundRect">
            <a:avLst>
              <a:gd name="adj" fmla="val 14286"/>
            </a:avLst>
          </a:prstGeom>
          <a:solidFill>
            <a:srgbClr val="2E86DE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3444545" y="2532888"/>
            <a:ext cx="804672" cy="804672"/>
          </a:xfrm>
          <a:prstGeom prst="ellipse">
            <a:avLst/>
          </a:prstGeom>
          <a:solidFill>
            <a:srgbClr val="2E86DE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3444545" y="253288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6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2905963" y="3520440"/>
            <a:ext cx="188183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核保标准不一</a:t>
            </a:r>
            <a:endParaRPr sz="155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2997403" y="4069080"/>
            <a:ext cx="1735531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不同核保员对规则理解有偏差</a:t>
            </a:r>
            <a:endParaRPr sz="115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同类客户结论/加费不一致</a:t>
            </a:r>
            <a:endParaRPr sz="115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062118" y="2148840"/>
            <a:ext cx="2064715" cy="3840480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5062118" y="2148840"/>
            <a:ext cx="2064715" cy="128016"/>
          </a:xfrm>
          <a:prstGeom prst="roundRect">
            <a:avLst>
              <a:gd name="adj" fmla="val 14286"/>
            </a:avLst>
          </a:prstGeom>
          <a:solidFill>
            <a:srgbClr val="E8A33D"/>
          </a:solidFill>
        </p:spPr>
      </p:sp>
      <p:sp>
        <p:nvSpPr>
          <p:cNvPr id="21" name="Shape 19"/>
          <p:cNvSpPr>
            <a:spLocks noGrp="1"/>
          </p:cNvSpPr>
          <p:nvPr/>
        </p:nvSpPr>
        <p:spPr>
          <a:xfrm>
            <a:off x="5692140" y="2532888"/>
            <a:ext cx="804672" cy="804672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5692140" y="253288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600"/>
          </a:p>
        </p:txBody>
      </p:sp>
      <p:sp>
        <p:nvSpPr>
          <p:cNvPr id="23" name="Text 21"/>
          <p:cNvSpPr>
            <a:spLocks noGrp="1"/>
          </p:cNvSpPr>
          <p:nvPr/>
        </p:nvSpPr>
        <p:spPr>
          <a:xfrm>
            <a:off x="5153558" y="3520440"/>
            <a:ext cx="188183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风险漏判误判</a:t>
            </a:r>
            <a:endParaRPr sz="155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5244998" y="4069080"/>
            <a:ext cx="1735531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疲劳与主观因素致漏判、错判</a:t>
            </a:r>
            <a:endParaRPr sz="115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直接影响赔付率与承保质量</a:t>
            </a:r>
            <a:endParaRPr sz="1150"/>
          </a:p>
        </p:txBody>
      </p:sp>
      <p:sp>
        <p:nvSpPr>
          <p:cNvPr id="25" name="Shape 23"/>
          <p:cNvSpPr>
            <a:spLocks noGrp="1"/>
          </p:cNvSpPr>
          <p:nvPr/>
        </p:nvSpPr>
        <p:spPr>
          <a:xfrm>
            <a:off x="7309714" y="2148840"/>
            <a:ext cx="2064715" cy="3840480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6" name="Shape 24"/>
          <p:cNvSpPr>
            <a:spLocks noGrp="1"/>
          </p:cNvSpPr>
          <p:nvPr/>
        </p:nvSpPr>
        <p:spPr>
          <a:xfrm>
            <a:off x="7309714" y="2148840"/>
            <a:ext cx="2064715" cy="128016"/>
          </a:xfrm>
          <a:prstGeom prst="roundRect">
            <a:avLst>
              <a:gd name="adj" fmla="val 14286"/>
            </a:avLst>
          </a:prstGeom>
          <a:solidFill>
            <a:srgbClr val="E07B4A"/>
          </a:solidFill>
        </p:spPr>
      </p:sp>
      <p:sp>
        <p:nvSpPr>
          <p:cNvPr id="27" name="Shape 25"/>
          <p:cNvSpPr>
            <a:spLocks noGrp="1"/>
          </p:cNvSpPr>
          <p:nvPr/>
        </p:nvSpPr>
        <p:spPr>
          <a:xfrm>
            <a:off x="7939735" y="2532888"/>
            <a:ext cx="804672" cy="804672"/>
          </a:xfrm>
          <a:prstGeom prst="ellipse">
            <a:avLst/>
          </a:prstGeom>
          <a:solidFill>
            <a:srgbClr val="E07B4A"/>
          </a:solidFill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7939735" y="253288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600"/>
          </a:p>
        </p:txBody>
      </p:sp>
      <p:sp>
        <p:nvSpPr>
          <p:cNvPr id="29" name="Text 27"/>
          <p:cNvSpPr>
            <a:spLocks noGrp="1"/>
          </p:cNvSpPr>
          <p:nvPr/>
        </p:nvSpPr>
        <p:spPr>
          <a:xfrm>
            <a:off x="7401154" y="3520440"/>
            <a:ext cx="188183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人力成本高企</a:t>
            </a:r>
            <a:endParaRPr sz="1550"/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7492594" y="4069080"/>
            <a:ext cx="1735531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核保为劳动密集型，人力占比高</a:t>
            </a:r>
            <a:endParaRPr sz="115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业务高峰期产能受限</a:t>
            </a:r>
            <a:endParaRPr sz="1150"/>
          </a:p>
        </p:txBody>
      </p:sp>
      <p:sp>
        <p:nvSpPr>
          <p:cNvPr id="31" name="Shape 29"/>
          <p:cNvSpPr>
            <a:spLocks noGrp="1"/>
          </p:cNvSpPr>
          <p:nvPr/>
        </p:nvSpPr>
        <p:spPr>
          <a:xfrm>
            <a:off x="9557309" y="2148840"/>
            <a:ext cx="2064715" cy="3840480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2" name="Shape 30"/>
          <p:cNvSpPr>
            <a:spLocks noGrp="1"/>
          </p:cNvSpPr>
          <p:nvPr/>
        </p:nvSpPr>
        <p:spPr>
          <a:xfrm>
            <a:off x="9557309" y="2148840"/>
            <a:ext cx="2064715" cy="128016"/>
          </a:xfrm>
          <a:prstGeom prst="roundRect">
            <a:avLst>
              <a:gd name="adj" fmla="val 14286"/>
            </a:avLst>
          </a:prstGeom>
          <a:solidFill>
            <a:srgbClr val="D94C4C"/>
          </a:solidFill>
        </p:spPr>
      </p:sp>
      <p:sp>
        <p:nvSpPr>
          <p:cNvPr id="33" name="Shape 31"/>
          <p:cNvSpPr>
            <a:spLocks noGrp="1"/>
          </p:cNvSpPr>
          <p:nvPr/>
        </p:nvSpPr>
        <p:spPr>
          <a:xfrm>
            <a:off x="10187330" y="2532888"/>
            <a:ext cx="804672" cy="804672"/>
          </a:xfrm>
          <a:prstGeom prst="ellipse">
            <a:avLst/>
          </a:prstGeom>
          <a:solidFill>
            <a:srgbClr val="D94C4C"/>
          </a:solidFill>
        </p:spPr>
      </p:sp>
      <p:sp>
        <p:nvSpPr>
          <p:cNvPr id="34" name="Text 32"/>
          <p:cNvSpPr>
            <a:spLocks noGrp="1"/>
          </p:cNvSpPr>
          <p:nvPr/>
        </p:nvSpPr>
        <p:spPr>
          <a:xfrm>
            <a:off x="10187330" y="253288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2600"/>
          </a:p>
        </p:txBody>
      </p:sp>
      <p:sp>
        <p:nvSpPr>
          <p:cNvPr id="35" name="Text 33"/>
          <p:cNvSpPr>
            <a:spLocks noGrp="1"/>
          </p:cNvSpPr>
          <p:nvPr/>
        </p:nvSpPr>
        <p:spPr>
          <a:xfrm>
            <a:off x="9648749" y="3520440"/>
            <a:ext cx="188183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5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合规留痕困难</a:t>
            </a:r>
            <a:endParaRPr sz="155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9740189" y="4069080"/>
            <a:ext cx="1735531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决策依据难以完整追溯</a:t>
            </a:r>
            <a:endParaRPr sz="115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难满足审计与监管可解释要求</a:t>
            </a:r>
            <a:endParaRPr sz="1150"/>
          </a:p>
        </p:txBody>
      </p:sp>
      <p:sp>
        <p:nvSpPr>
          <p:cNvPr id="37" name="Text 3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38" name="Text 3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326880" y="-914400"/>
            <a:ext cx="4206240" cy="4206240"/>
          </a:xfrm>
          <a:prstGeom prst="ellipse">
            <a:avLst/>
          </a:prstGeom>
          <a:solidFill>
            <a:srgbClr val="1C6DD0">
              <a:alpha val="26000"/>
            </a:srgbClr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274320" y="2011680"/>
            <a:ext cx="5943600" cy="2926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20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394960" y="2788920"/>
            <a:ext cx="256032" cy="1097280"/>
          </a:xfrm>
          <a:prstGeom prst="roundRect">
            <a:avLst>
              <a:gd name="adj" fmla="val 21429"/>
            </a:avLst>
          </a:prstGeom>
          <a:solidFill>
            <a:srgbClr val="E8A33D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806440" y="278892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智能核保 · 系统解决方案</a:t>
            </a:r>
            <a:endParaRPr sz="4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852160" y="361188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THE SOLUTION</a:t>
            </a:r>
            <a:endParaRPr sz="14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三级角色化功能体系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基于「执行—管理—决策」三级职责，系统为不同角色提供定制化功能，形成从单笔核保到分级审批的闭环。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94560"/>
            <a:ext cx="3502152" cy="3886200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/>
          <p:cNvSpPr>
            <a:spLocks noGrp="1"/>
          </p:cNvSpPr>
          <p:nvPr/>
        </p:nvSpPr>
        <p:spPr>
          <a:xfrm>
            <a:off x="566928" y="2194560"/>
            <a:ext cx="3502152" cy="822960"/>
          </a:xfrm>
          <a:prstGeom prst="roundRect">
            <a:avLst>
              <a:gd name="adj" fmla="val 8889"/>
            </a:avLst>
          </a:prstGeom>
          <a:solidFill>
            <a:srgbClr val="1C6DD0"/>
          </a:solidFill>
        </p:spPr>
      </p:sp>
      <p:sp>
        <p:nvSpPr>
          <p:cNvPr id="9" name="Shape 7"/>
          <p:cNvSpPr>
            <a:spLocks noGrp="1"/>
          </p:cNvSpPr>
          <p:nvPr/>
        </p:nvSpPr>
        <p:spPr>
          <a:xfrm>
            <a:off x="566928" y="2697480"/>
            <a:ext cx="3502152" cy="320040"/>
          </a:xfrm>
          <a:prstGeom prst="rect">
            <a:avLst/>
          </a:prstGeom>
          <a:solidFill>
            <a:srgbClr val="1C6DD0"/>
          </a:solidFill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822960" y="2395728"/>
            <a:ext cx="420624" cy="420624"/>
          </a:xfrm>
          <a:prstGeom prst="ellipse">
            <a:avLst/>
          </a:prstGeom>
          <a:solidFill>
            <a:srgbClr val="FFFFFF">
              <a:alpha val="22000"/>
            </a:srgbClr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22960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0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344168" y="2340864"/>
            <a:ext cx="258775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核保专员</a:t>
            </a:r>
            <a:endParaRPr sz="170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344168" y="2670048"/>
            <a:ext cx="25877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执行层</a:t>
            </a:r>
            <a:endParaRPr sz="115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786384" y="318211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核心任务：单笔 / 批量核保</a:t>
            </a:r>
            <a:endParaRPr sz="125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822960" y="3566160"/>
            <a:ext cx="3026664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提交投保申请并触发 AI 自动核保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查看风险评分 / 等级 / 结论 / 加费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发起人工修整（必填原因）</a:t>
            </a:r>
            <a:endParaRPr sz="115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786384" y="5422392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877824" y="542239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提效：AI 秒级出结论，减少人工核对</a:t>
            </a:r>
            <a:endParaRPr sz="1100"/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4343400" y="2194560"/>
            <a:ext cx="3502152" cy="3886200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Shape 17"/>
          <p:cNvSpPr>
            <a:spLocks noGrp="1"/>
          </p:cNvSpPr>
          <p:nvPr/>
        </p:nvSpPr>
        <p:spPr>
          <a:xfrm>
            <a:off x="4343400" y="2194560"/>
            <a:ext cx="3502152" cy="822960"/>
          </a:xfrm>
          <a:prstGeom prst="roundRect">
            <a:avLst>
              <a:gd name="adj" fmla="val 8889"/>
            </a:avLst>
          </a:prstGeom>
          <a:solidFill>
            <a:srgbClr val="2E86DE"/>
          </a:solidFill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4343400" y="2697480"/>
            <a:ext cx="3502152" cy="320040"/>
          </a:xfrm>
          <a:prstGeom prst="rect">
            <a:avLst/>
          </a:prstGeom>
          <a:solidFill>
            <a:srgbClr val="2E86DE"/>
          </a:solidFill>
        </p:spPr>
      </p:sp>
      <p:sp>
        <p:nvSpPr>
          <p:cNvPr id="21" name="Shape 19"/>
          <p:cNvSpPr>
            <a:spLocks noGrp="1"/>
          </p:cNvSpPr>
          <p:nvPr/>
        </p:nvSpPr>
        <p:spPr>
          <a:xfrm>
            <a:off x="4599432" y="2395728"/>
            <a:ext cx="420624" cy="420624"/>
          </a:xfrm>
          <a:prstGeom prst="ellipse">
            <a:avLst/>
          </a:prstGeom>
          <a:solidFill>
            <a:srgbClr val="FFFFFF">
              <a:alpha val="22000"/>
            </a:srgbClr>
          </a:solidFill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4599432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000"/>
          </a:p>
        </p:txBody>
      </p:sp>
      <p:sp>
        <p:nvSpPr>
          <p:cNvPr id="23" name="Text 21"/>
          <p:cNvSpPr>
            <a:spLocks noGrp="1"/>
          </p:cNvSpPr>
          <p:nvPr/>
        </p:nvSpPr>
        <p:spPr>
          <a:xfrm>
            <a:off x="5120640" y="2340864"/>
            <a:ext cx="258775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核保主管</a:t>
            </a:r>
            <a:endParaRPr sz="170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5120640" y="2670048"/>
            <a:ext cx="25877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管理层 · 分级审批</a:t>
            </a:r>
            <a:endParaRPr sz="115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562856" y="318211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2E86DE"/>
                </a:solidFill>
                <a:latin typeface="微软雅黑"/>
                <a:ea typeface="微软雅黑"/>
                <a:cs typeface="微软雅黑"/>
              </a:rPr>
              <a:t>核心任务：审批与运营监控</a:t>
            </a:r>
            <a:endParaRPr sz="125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4599432" y="3566160"/>
            <a:ext cx="3026664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审批人工修整（按严重程度分一/二级）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数据汇总统计 · 运营监控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免审提交即生效（保守流转保留）</a:t>
            </a:r>
            <a:endParaRPr sz="1150"/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4562856" y="5422392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4654296" y="542239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控本：识别低效环节，统一核保口径</a:t>
            </a:r>
            <a:endParaRPr sz="1100"/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8119872" y="2194560"/>
            <a:ext cx="3502152" cy="3886200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0" name="Shape 28"/>
          <p:cNvSpPr>
            <a:spLocks noGrp="1"/>
          </p:cNvSpPr>
          <p:nvPr/>
        </p:nvSpPr>
        <p:spPr>
          <a:xfrm>
            <a:off x="8119872" y="2194560"/>
            <a:ext cx="3502152" cy="822960"/>
          </a:xfrm>
          <a:prstGeom prst="roundRect">
            <a:avLst>
              <a:gd name="adj" fmla="val 8889"/>
            </a:avLst>
          </a:prstGeom>
          <a:solidFill>
            <a:srgbClr val="E8A33D"/>
          </a:solidFill>
        </p:spPr>
      </p:sp>
      <p:sp>
        <p:nvSpPr>
          <p:cNvPr id="31" name="Shape 29"/>
          <p:cNvSpPr>
            <a:spLocks noGrp="1"/>
          </p:cNvSpPr>
          <p:nvPr/>
        </p:nvSpPr>
        <p:spPr>
          <a:xfrm>
            <a:off x="8119872" y="2697480"/>
            <a:ext cx="3502152" cy="32004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32" name="Shape 30"/>
          <p:cNvSpPr>
            <a:spLocks noGrp="1"/>
          </p:cNvSpPr>
          <p:nvPr/>
        </p:nvSpPr>
        <p:spPr>
          <a:xfrm>
            <a:off x="8375904" y="2395728"/>
            <a:ext cx="420624" cy="420624"/>
          </a:xfrm>
          <a:prstGeom prst="ellipse">
            <a:avLst/>
          </a:prstGeom>
          <a:solidFill>
            <a:srgbClr val="FFFFFF">
              <a:alpha val="22000"/>
            </a:srgbClr>
          </a:solidFill>
        </p:spPr>
      </p:sp>
      <p:sp>
        <p:nvSpPr>
          <p:cNvPr id="33" name="Text 31"/>
          <p:cNvSpPr>
            <a:spLocks noGrp="1"/>
          </p:cNvSpPr>
          <p:nvPr/>
        </p:nvSpPr>
        <p:spPr>
          <a:xfrm>
            <a:off x="8375904" y="239572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000"/>
          </a:p>
        </p:txBody>
      </p:sp>
      <p:sp>
        <p:nvSpPr>
          <p:cNvPr id="34" name="Text 32"/>
          <p:cNvSpPr>
            <a:spLocks noGrp="1"/>
          </p:cNvSpPr>
          <p:nvPr/>
        </p:nvSpPr>
        <p:spPr>
          <a:xfrm>
            <a:off x="8897112" y="2340864"/>
            <a:ext cx="258775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管理员</a:t>
            </a:r>
            <a:endParaRPr sz="1700"/>
          </a:p>
        </p:txBody>
      </p:sp>
      <p:sp>
        <p:nvSpPr>
          <p:cNvPr id="35" name="Text 33"/>
          <p:cNvSpPr>
            <a:spLocks noGrp="1"/>
          </p:cNvSpPr>
          <p:nvPr/>
        </p:nvSpPr>
        <p:spPr>
          <a:xfrm>
            <a:off x="8897112" y="2670048"/>
            <a:ext cx="25877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EAF1FB"/>
                </a:solidFill>
                <a:latin typeface="微软雅黑"/>
                <a:ea typeface="微软雅黑"/>
                <a:cs typeface="微软雅黑"/>
              </a:rPr>
              <a:t>决策层 · 系统管理</a:t>
            </a:r>
            <a:endParaRPr sz="115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8339328" y="318211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核心任务：反馈闭环与合规</a:t>
            </a:r>
            <a:endParaRPr sz="1250"/>
          </a:p>
        </p:txBody>
      </p:sp>
      <p:sp>
        <p:nvSpPr>
          <p:cNvPr id="37" name="Text 35"/>
          <p:cNvSpPr>
            <a:spLocks noGrp="1"/>
          </p:cNvSpPr>
          <p:nvPr/>
        </p:nvSpPr>
        <p:spPr>
          <a:xfrm>
            <a:off x="8375904" y="3566160"/>
            <a:ext cx="3026664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用户反馈受理与规则建议确认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全量审计留痕查看</a:t>
            </a:r>
            <a:endParaRPr sz="115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规则知识库 / 系统管理</a:t>
            </a:r>
            <a:endParaRPr sz="1150"/>
          </a:p>
        </p:txBody>
      </p:sp>
      <p:sp>
        <p:nvSpPr>
          <p:cNvPr id="38" name="Shape 36"/>
          <p:cNvSpPr>
            <a:spLocks noGrp="1"/>
          </p:cNvSpPr>
          <p:nvPr/>
        </p:nvSpPr>
        <p:spPr>
          <a:xfrm>
            <a:off x="8339328" y="5422392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</p:spPr>
      </p:sp>
      <p:sp>
        <p:nvSpPr>
          <p:cNvPr id="39" name="Text 37"/>
          <p:cNvSpPr>
            <a:spLocks noGrp="1"/>
          </p:cNvSpPr>
          <p:nvPr/>
        </p:nvSpPr>
        <p:spPr>
          <a:xfrm>
            <a:off x="8430768" y="542239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合规：账实相符，满足审计要求</a:t>
            </a:r>
            <a:endParaRPr sz="1100"/>
          </a:p>
        </p:txBody>
      </p:sp>
      <p:sp>
        <p:nvSpPr>
          <p:cNvPr id="40" name="Text 38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41" name="Text 39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产品能力全景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八大功能模块覆盖核保全链路，从数据接入、智能核保到监控、反馈闭环。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94560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Shape 6"/>
          <p:cNvSpPr>
            <a:spLocks noGrp="1"/>
          </p:cNvSpPr>
          <p:nvPr/>
        </p:nvSpPr>
        <p:spPr>
          <a:xfrm>
            <a:off x="804672" y="2468880"/>
            <a:ext cx="566928" cy="566928"/>
          </a:xfrm>
          <a:prstGeom prst="ellipse">
            <a:avLst/>
          </a:prstGeom>
          <a:solidFill>
            <a:srgbClr val="1C6DD0"/>
          </a:solidFill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804672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7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1481328" y="2487168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首页概览</a:t>
            </a:r>
            <a:endParaRPr sz="1500"/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822960" y="3182112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关键指标与待办一览</a:t>
            </a:r>
            <a:endParaRPr sz="1150"/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3385566" y="2194560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3" name="Shape 11"/>
          <p:cNvSpPr>
            <a:spLocks noGrp="1"/>
          </p:cNvSpPr>
          <p:nvPr/>
        </p:nvSpPr>
        <p:spPr>
          <a:xfrm>
            <a:off x="3623310" y="2468880"/>
            <a:ext cx="566928" cy="566928"/>
          </a:xfrm>
          <a:prstGeom prst="ellipse">
            <a:avLst/>
          </a:prstGeom>
          <a:solidFill>
            <a:srgbClr val="2E86DE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3623310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7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4299966" y="2487168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智能助手</a:t>
            </a:r>
            <a:endParaRPr sz="1500"/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3641598" y="3182112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LLM 多意图对话 · 对话即提报</a:t>
            </a:r>
            <a:endParaRPr sz="1150"/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6204204" y="2194560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8" name="Shape 16"/>
          <p:cNvSpPr>
            <a:spLocks noGrp="1"/>
          </p:cNvSpPr>
          <p:nvPr/>
        </p:nvSpPr>
        <p:spPr>
          <a:xfrm>
            <a:off x="6441948" y="2468880"/>
            <a:ext cx="566928" cy="566928"/>
          </a:xfrm>
          <a:prstGeom prst="ellipse">
            <a:avLst/>
          </a:prstGeom>
          <a:solidFill>
            <a:srgbClr val="4C8FBE"/>
          </a:solidFill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6441948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70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7118604" y="2487168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历史客户画像</a:t>
            </a:r>
            <a:endParaRPr sz="15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6460236" y="3182112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既往风险与拒保历史</a:t>
            </a:r>
            <a:endParaRPr sz="1150"/>
          </a:p>
        </p:txBody>
      </p:sp>
      <p:sp>
        <p:nvSpPr>
          <p:cNvPr id="22" name="Shape 20"/>
          <p:cNvSpPr>
            <a:spLocks noGrp="1"/>
          </p:cNvSpPr>
          <p:nvPr/>
        </p:nvSpPr>
        <p:spPr>
          <a:xfrm>
            <a:off x="9022842" y="2194560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3" name="Shape 21"/>
          <p:cNvSpPr>
            <a:spLocks noGrp="1"/>
          </p:cNvSpPr>
          <p:nvPr/>
        </p:nvSpPr>
        <p:spPr>
          <a:xfrm>
            <a:off x="9260586" y="2468880"/>
            <a:ext cx="566928" cy="566928"/>
          </a:xfrm>
          <a:prstGeom prst="ellipse">
            <a:avLst/>
          </a:prstGeom>
          <a:solidFill>
            <a:srgbClr val="1C6DD0"/>
          </a:solidFill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9260586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70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9937242" y="2487168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投保申请记录</a:t>
            </a:r>
            <a:endParaRPr sz="15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9278874" y="3182112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投保数据接入与管理</a:t>
            </a:r>
            <a:endParaRPr sz="1150"/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566928" y="4151376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8" name="Shape 26"/>
          <p:cNvSpPr>
            <a:spLocks noGrp="1"/>
          </p:cNvSpPr>
          <p:nvPr/>
        </p:nvSpPr>
        <p:spPr>
          <a:xfrm>
            <a:off x="804672" y="4425696"/>
            <a:ext cx="566928" cy="566928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29" name="Text 27"/>
          <p:cNvSpPr>
            <a:spLocks noGrp="1"/>
          </p:cNvSpPr>
          <p:nvPr/>
        </p:nvSpPr>
        <p:spPr>
          <a:xfrm>
            <a:off x="804672" y="442569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700"/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1481328" y="4443984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核保决策结果</a:t>
            </a:r>
            <a:endParaRPr sz="1500"/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822960" y="5138928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AI 自动核保 · 分级 · 修整</a:t>
            </a:r>
            <a:endParaRPr sz="1150"/>
          </a:p>
        </p:txBody>
      </p:sp>
      <p:sp>
        <p:nvSpPr>
          <p:cNvPr id="32" name="Shape 30"/>
          <p:cNvSpPr>
            <a:spLocks noGrp="1"/>
          </p:cNvSpPr>
          <p:nvPr/>
        </p:nvSpPr>
        <p:spPr>
          <a:xfrm>
            <a:off x="3385566" y="4151376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3" name="Shape 31"/>
          <p:cNvSpPr>
            <a:spLocks noGrp="1"/>
          </p:cNvSpPr>
          <p:nvPr/>
        </p:nvSpPr>
        <p:spPr>
          <a:xfrm>
            <a:off x="3623310" y="4425696"/>
            <a:ext cx="566928" cy="566928"/>
          </a:xfrm>
          <a:prstGeom prst="ellipse">
            <a:avLst/>
          </a:prstGeom>
          <a:solidFill>
            <a:srgbClr val="E07B4A"/>
          </a:solidFill>
        </p:spPr>
      </p:sp>
      <p:sp>
        <p:nvSpPr>
          <p:cNvPr id="34" name="Text 32"/>
          <p:cNvSpPr>
            <a:spLocks noGrp="1"/>
          </p:cNvSpPr>
          <p:nvPr/>
        </p:nvSpPr>
        <p:spPr>
          <a:xfrm>
            <a:off x="3623310" y="442569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700"/>
          </a:p>
        </p:txBody>
      </p:sp>
      <p:sp>
        <p:nvSpPr>
          <p:cNvPr id="35" name="Text 33"/>
          <p:cNvSpPr>
            <a:spLocks noGrp="1"/>
          </p:cNvSpPr>
          <p:nvPr/>
        </p:nvSpPr>
        <p:spPr>
          <a:xfrm>
            <a:off x="4299966" y="4443984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风险计分规则</a:t>
            </a:r>
            <a:endParaRPr sz="150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3641598" y="5138928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规则知识库可视化配置</a:t>
            </a:r>
            <a:endParaRPr sz="1150"/>
          </a:p>
        </p:txBody>
      </p:sp>
      <p:sp>
        <p:nvSpPr>
          <p:cNvPr id="37" name="Shape 35"/>
          <p:cNvSpPr>
            <a:spLocks noGrp="1"/>
          </p:cNvSpPr>
          <p:nvPr/>
        </p:nvSpPr>
        <p:spPr>
          <a:xfrm>
            <a:off x="6204204" y="4151376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8" name="Shape 36"/>
          <p:cNvSpPr>
            <a:spLocks noGrp="1"/>
          </p:cNvSpPr>
          <p:nvPr/>
        </p:nvSpPr>
        <p:spPr>
          <a:xfrm>
            <a:off x="6441948" y="4425696"/>
            <a:ext cx="566928" cy="566928"/>
          </a:xfrm>
          <a:prstGeom prst="ellipse">
            <a:avLst/>
          </a:prstGeom>
          <a:solidFill>
            <a:srgbClr val="2E9E5B"/>
          </a:solidFill>
        </p:spPr>
      </p:sp>
      <p:sp>
        <p:nvSpPr>
          <p:cNvPr id="39" name="Text 37"/>
          <p:cNvSpPr>
            <a:spLocks noGrp="1"/>
          </p:cNvSpPr>
          <p:nvPr/>
        </p:nvSpPr>
        <p:spPr>
          <a:xfrm>
            <a:off x="6441948" y="442569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  <a:endParaRPr sz="1700"/>
          </a:p>
        </p:txBody>
      </p:sp>
      <p:sp>
        <p:nvSpPr>
          <p:cNvPr id="40" name="Text 38"/>
          <p:cNvSpPr>
            <a:spLocks noGrp="1"/>
          </p:cNvSpPr>
          <p:nvPr/>
        </p:nvSpPr>
        <p:spPr>
          <a:xfrm>
            <a:off x="7118604" y="4443984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数据汇总统计</a:t>
            </a:r>
            <a:endParaRPr sz="1500"/>
          </a:p>
        </p:txBody>
      </p:sp>
      <p:sp>
        <p:nvSpPr>
          <p:cNvPr id="41" name="Text 39"/>
          <p:cNvSpPr>
            <a:spLocks noGrp="1"/>
          </p:cNvSpPr>
          <p:nvPr/>
        </p:nvSpPr>
        <p:spPr>
          <a:xfrm>
            <a:off x="6460236" y="5138928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多维分析与看板</a:t>
            </a:r>
            <a:endParaRPr sz="1150"/>
          </a:p>
        </p:txBody>
      </p:sp>
      <p:sp>
        <p:nvSpPr>
          <p:cNvPr id="42" name="Shape 40"/>
          <p:cNvSpPr>
            <a:spLocks noGrp="1"/>
          </p:cNvSpPr>
          <p:nvPr/>
        </p:nvSpPr>
        <p:spPr>
          <a:xfrm>
            <a:off x="9022842" y="4151376"/>
            <a:ext cx="259918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43" name="Shape 41"/>
          <p:cNvSpPr>
            <a:spLocks noGrp="1"/>
          </p:cNvSpPr>
          <p:nvPr/>
        </p:nvSpPr>
        <p:spPr>
          <a:xfrm>
            <a:off x="9260586" y="4425696"/>
            <a:ext cx="566928" cy="566928"/>
          </a:xfrm>
          <a:prstGeom prst="ellipse">
            <a:avLst/>
          </a:prstGeom>
          <a:solidFill>
            <a:srgbClr val="7A6FD0"/>
          </a:solidFill>
        </p:spPr>
      </p:sp>
      <p:sp>
        <p:nvSpPr>
          <p:cNvPr id="44" name="Text 42"/>
          <p:cNvSpPr>
            <a:spLocks noGrp="1"/>
          </p:cNvSpPr>
          <p:nvPr/>
        </p:nvSpPr>
        <p:spPr>
          <a:xfrm>
            <a:off x="9260586" y="442569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  <a:endParaRPr sz="1700"/>
          </a:p>
        </p:txBody>
      </p:sp>
      <p:sp>
        <p:nvSpPr>
          <p:cNvPr id="45" name="Text 43"/>
          <p:cNvSpPr>
            <a:spLocks noGrp="1"/>
          </p:cNvSpPr>
          <p:nvPr/>
        </p:nvSpPr>
        <p:spPr>
          <a:xfrm>
            <a:off x="9937242" y="4443984"/>
            <a:ext cx="150190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用户反馈</a:t>
            </a:r>
            <a:endParaRPr sz="1500"/>
          </a:p>
        </p:txBody>
      </p:sp>
      <p:sp>
        <p:nvSpPr>
          <p:cNvPr id="46" name="Text 44"/>
          <p:cNvSpPr>
            <a:spLocks noGrp="1"/>
          </p:cNvSpPr>
          <p:nvPr/>
        </p:nvSpPr>
        <p:spPr>
          <a:xfrm>
            <a:off x="9278874" y="5138928"/>
            <a:ext cx="21419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多渠道反馈 · 规则闭环</a:t>
            </a:r>
            <a:endParaRPr sz="1150"/>
          </a:p>
        </p:txBody>
      </p:sp>
      <p:sp>
        <p:nvSpPr>
          <p:cNvPr id="47" name="Text 4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48" name="Text 4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02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系统演示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45920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访问地址：http://localhost:7001/home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94560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66928" y="2697480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713232" y="3474720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713232" y="3474720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首页概览</a:t>
            </a:r>
            <a:endParaRPr sz="115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4337304" y="2194560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337304" y="2697480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4483608" y="3474720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4483608" y="3474720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智能助手（对话核保）</a:t>
            </a:r>
            <a:endParaRPr sz="1150"/>
          </a:p>
        </p:txBody>
      </p:sp>
      <p:sp>
        <p:nvSpPr>
          <p:cNvPr id="15" name="Shape 13"/>
          <p:cNvSpPr>
            <a:spLocks noGrp="1"/>
          </p:cNvSpPr>
          <p:nvPr/>
        </p:nvSpPr>
        <p:spPr>
          <a:xfrm>
            <a:off x="8107680" y="2194560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107680" y="2697480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8253984" y="3474720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18" name="Text 16"/>
          <p:cNvSpPr>
            <a:spLocks noGrp="1"/>
          </p:cNvSpPr>
          <p:nvPr/>
        </p:nvSpPr>
        <p:spPr>
          <a:xfrm>
            <a:off x="8253984" y="3474720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核保决策结果</a:t>
            </a:r>
            <a:endParaRPr sz="115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66928" y="4187952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566928" y="4690872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1" name="Shape 19"/>
          <p:cNvSpPr>
            <a:spLocks noGrp="1"/>
          </p:cNvSpPr>
          <p:nvPr/>
        </p:nvSpPr>
        <p:spPr>
          <a:xfrm>
            <a:off x="713232" y="5468112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713232" y="5468112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人工修整 / 审核工作台</a:t>
            </a:r>
            <a:endParaRPr sz="1150"/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4337304" y="4187952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4337304" y="4690872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5" name="Shape 23"/>
          <p:cNvSpPr>
            <a:spLocks noGrp="1"/>
          </p:cNvSpPr>
          <p:nvPr/>
        </p:nvSpPr>
        <p:spPr>
          <a:xfrm>
            <a:off x="4483608" y="5468112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26" name="Text 24"/>
          <p:cNvSpPr>
            <a:spLocks noGrp="1"/>
          </p:cNvSpPr>
          <p:nvPr/>
        </p:nvSpPr>
        <p:spPr>
          <a:xfrm>
            <a:off x="4483608" y="5468112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风险计分规则</a:t>
            </a:r>
            <a:endParaRPr sz="1150"/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8107680" y="4187952"/>
            <a:ext cx="3514344" cy="1737360"/>
          </a:xfrm>
          <a:prstGeom prst="roundRect">
            <a:avLst>
              <a:gd name="adj" fmla="val 3158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8107680" y="4690872"/>
            <a:ext cx="3514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A9B6C6"/>
                </a:solidFill>
                <a:latin typeface="微软雅黑"/>
                <a:ea typeface="微软雅黑"/>
                <a:cs typeface="微软雅黑"/>
              </a:rPr>
              <a:t>【 此处放系统截图 】</a:t>
            </a:r>
            <a:endParaRPr sz="1200"/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8253984" y="5468112"/>
            <a:ext cx="3221736" cy="329184"/>
          </a:xfrm>
          <a:prstGeom prst="roundRect">
            <a:avLst>
              <a:gd name="adj" fmla="val 13889"/>
            </a:avLst>
          </a:prstGeom>
          <a:solidFill>
            <a:srgbClr val="13315C"/>
          </a:solidFill>
        </p:spPr>
      </p:sp>
      <p:sp>
        <p:nvSpPr>
          <p:cNvPr id="30" name="Text 28"/>
          <p:cNvSpPr>
            <a:spLocks noGrp="1"/>
          </p:cNvSpPr>
          <p:nvPr/>
        </p:nvSpPr>
        <p:spPr>
          <a:xfrm>
            <a:off x="8253984" y="5468112"/>
            <a:ext cx="322173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用户反馈 / 规则闭环</a:t>
            </a:r>
            <a:endParaRPr sz="1150"/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32" name="Text 30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①</a:t>
            </a:r>
            <a:endParaRPr b="1" spc="200">
              <a:solidFill>
                <a:srgbClr val="1C6DD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核心技术架构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519047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典型微服务分层架构：交互层 → 编排层（意图编排 Agent） → 服务层（核保专家 / 数据 / 报表） → 基础设施。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12064" y="1819656"/>
            <a:ext cx="5809183" cy="4315968"/>
          </a:xfrm>
          <a:prstGeom prst="roundRect">
            <a:avLst>
              <a:gd name="adj" fmla="val 1271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pic>
        <p:nvPicPr>
          <p:cNvPr id="30" name="Image 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66928" y="1874520"/>
            <a:ext cx="5699455" cy="4206240"/>
          </a:xfrm>
          <a:prstGeom prst="rect">
            <a:avLst/>
          </a:prstGeom>
        </p:spPr>
      </p:pic>
      <p:sp>
        <p:nvSpPr>
          <p:cNvPr id="9" name="Shape 6"/>
          <p:cNvSpPr>
            <a:spLocks noGrp="1"/>
          </p:cNvSpPr>
          <p:nvPr/>
        </p:nvSpPr>
        <p:spPr>
          <a:xfrm>
            <a:off x="6632143" y="1874520"/>
            <a:ext cx="4989881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869887" y="2057400"/>
            <a:ext cx="4532681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架构要点</a:t>
            </a:r>
            <a:endParaRPr sz="15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6869887" y="2569464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1C6DD0"/>
          </a:solidFill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7125919" y="2532888"/>
            <a:ext cx="4276649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双引擎核保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规则引擎（确定性） + 爱码 LLM（aicoder-plus）语义</a:t>
            </a:r>
            <a:endParaRPr sz="13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6869887" y="3282696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1C6DD0"/>
          </a:solidFill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7125919" y="3246120"/>
            <a:ext cx="4276649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意图编排 Agent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意图识别 · 参数抽取 · 任务分发</a:t>
            </a:r>
            <a:endParaRPr sz="13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6869887" y="3995928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1C6DD0"/>
          </a:solidFill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7125919" y="3959352"/>
            <a:ext cx="4276649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服务层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核保专家 / 数据服务 / 报表服务</a:t>
            </a:r>
            <a:endParaRPr sz="13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6869887" y="4709160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1C6DD0"/>
          </a:solidFill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7125919" y="4672584"/>
            <a:ext cx="4276649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前后端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Vue 3 + Element Plus / Spring Boot + MyBatis</a:t>
            </a:r>
            <a:endParaRPr sz="13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6869887" y="542239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1C6DD0"/>
          </a:solidFill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7125919" y="5385816"/>
            <a:ext cx="4276649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数据基座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PostgreSQL 业务库 · 规则知识库 · 文件存储 data/*.json</a:t>
            </a:r>
            <a:endParaRPr sz="1300"/>
          </a:p>
        </p:txBody>
      </p:sp>
      <p:sp>
        <p:nvSpPr>
          <p:cNvPr id="22" name="Text 19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②</a:t>
            </a:r>
            <a:endParaRPr b="1" spc="200">
              <a:solidFill>
                <a:srgbClr val="1C6DD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智能核保逻辑：双引擎协同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519047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“规则引擎（确定性） + 爱码 LLM（语义 / 生成）” 混合流水线，兼顾复杂病史的理解力与核保的严谨合规。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12064" y="1819656"/>
            <a:ext cx="4307556" cy="4315968"/>
          </a:xfrm>
          <a:prstGeom prst="roundRect">
            <a:avLst>
              <a:gd name="adj" fmla="val 1274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pic>
        <p:nvPicPr>
          <p:cNvPr id="39" name="Image 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66928" y="1874520"/>
            <a:ext cx="4197828" cy="4206240"/>
          </a:xfrm>
          <a:prstGeom prst="rect">
            <a:avLst/>
          </a:prstGeom>
        </p:spPr>
      </p:pic>
      <p:sp>
        <p:nvSpPr>
          <p:cNvPr id="9" name="Shape 6"/>
          <p:cNvSpPr>
            <a:spLocks noGrp="1"/>
          </p:cNvSpPr>
          <p:nvPr/>
        </p:nvSpPr>
        <p:spPr>
          <a:xfrm>
            <a:off x="5130516" y="1874520"/>
            <a:ext cx="649150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0" name="Shape 7"/>
          <p:cNvSpPr>
            <a:spLocks noGrp="1"/>
          </p:cNvSpPr>
          <p:nvPr/>
        </p:nvSpPr>
        <p:spPr>
          <a:xfrm>
            <a:off x="5130516" y="1874520"/>
            <a:ext cx="6491508" cy="457200"/>
          </a:xfrm>
          <a:prstGeom prst="roundRect">
            <a:avLst>
              <a:gd name="adj" fmla="val 16000"/>
            </a:avLst>
          </a:prstGeom>
          <a:solidFill>
            <a:srgbClr val="2E86DE"/>
          </a:solidFill>
        </p:spPr>
      </p:sp>
      <p:sp>
        <p:nvSpPr>
          <p:cNvPr id="11" name="Shape 8"/>
          <p:cNvSpPr>
            <a:spLocks noGrp="1"/>
          </p:cNvSpPr>
          <p:nvPr/>
        </p:nvSpPr>
        <p:spPr>
          <a:xfrm>
            <a:off x="5130516" y="2130552"/>
            <a:ext cx="6491508" cy="201168"/>
          </a:xfrm>
          <a:prstGeom prst="rect">
            <a:avLst/>
          </a:prstGeom>
          <a:solidFill>
            <a:srgbClr val="2E86DE"/>
          </a:solidFill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5349972" y="1874520"/>
            <a:ext cx="605259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LLM 语义引擎（爱码）</a:t>
            </a:r>
            <a:endParaRPr sz="1400"/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5404836" y="2423160"/>
            <a:ext cx="5988588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病史 / 家族史文本语义归类至评分档</a:t>
            </a:r>
            <a:endParaRPr sz="1150"/>
          </a:p>
          <a:p>
            <a:pPr marL="342900" indent="-342900"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关键风险因子归纳生成，失败自动降级规则拆解</a:t>
            </a:r>
            <a:endParaRPr sz="1150"/>
          </a:p>
        </p:txBody>
      </p:sp>
      <p:sp>
        <p:nvSpPr>
          <p:cNvPr id="14" name="Shape 11"/>
          <p:cNvSpPr>
            <a:spLocks noGrp="1"/>
          </p:cNvSpPr>
          <p:nvPr/>
        </p:nvSpPr>
        <p:spPr>
          <a:xfrm>
            <a:off x="5130516" y="3246120"/>
            <a:ext cx="649150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5" name="Shape 12"/>
          <p:cNvSpPr>
            <a:spLocks noGrp="1"/>
          </p:cNvSpPr>
          <p:nvPr/>
        </p:nvSpPr>
        <p:spPr>
          <a:xfrm>
            <a:off x="5130516" y="3246120"/>
            <a:ext cx="6491508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5130516" y="3502152"/>
            <a:ext cx="6491508" cy="201168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5349972" y="3246120"/>
            <a:ext cx="605259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规则引擎（确定性）</a:t>
            </a:r>
            <a:endParaRPr sz="1400"/>
          </a:p>
        </p:txBody>
      </p:sp>
      <p:sp>
        <p:nvSpPr>
          <p:cNvPr id="18" name="Text 15"/>
          <p:cNvSpPr>
            <a:spLocks noGrp="1"/>
          </p:cNvSpPr>
          <p:nvPr/>
        </p:nvSpPr>
        <p:spPr>
          <a:xfrm>
            <a:off x="5404836" y="3794760"/>
            <a:ext cx="5988588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BMI / 血压 / 烟酒 / 年龄 / 职业 累加计分</a:t>
            </a:r>
            <a:endParaRPr sz="1150"/>
          </a:p>
          <a:p>
            <a:pPr marL="342900" indent="-342900">
              <a:buSzPct val="100000"/>
              <a:buChar char="•"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直接拒保红线 + 总分 → 风险等级区间（可追溯）</a:t>
            </a:r>
            <a:endParaRPr sz="1150"/>
          </a:p>
        </p:txBody>
      </p:sp>
      <p:sp>
        <p:nvSpPr>
          <p:cNvPr id="19" name="Text 16"/>
          <p:cNvSpPr>
            <a:spLocks noGrp="1"/>
          </p:cNvSpPr>
          <p:nvPr/>
        </p:nvSpPr>
        <p:spPr>
          <a:xfrm>
            <a:off x="5130516" y="4709160"/>
            <a:ext cx="649150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风险智能分级（规则区间）</a:t>
            </a:r>
            <a:endParaRPr sz="1200"/>
          </a:p>
        </p:txBody>
      </p:sp>
      <p:sp>
        <p:nvSpPr>
          <p:cNvPr id="20" name="Shape 17"/>
          <p:cNvSpPr>
            <a:spLocks noGrp="1"/>
          </p:cNvSpPr>
          <p:nvPr/>
        </p:nvSpPr>
        <p:spPr>
          <a:xfrm>
            <a:off x="5167092" y="5038344"/>
            <a:ext cx="1206862" cy="585216"/>
          </a:xfrm>
          <a:prstGeom prst="roundRect">
            <a:avLst>
              <a:gd name="adj" fmla="val 9375"/>
            </a:avLst>
          </a:prstGeom>
          <a:solidFill>
            <a:srgbClr val="2E9E5B"/>
          </a:solidFill>
        </p:spPr>
      </p:sp>
      <p:sp>
        <p:nvSpPr>
          <p:cNvPr id="21" name="Text 18"/>
          <p:cNvSpPr>
            <a:spLocks noGrp="1"/>
          </p:cNvSpPr>
          <p:nvPr/>
        </p:nvSpPr>
        <p:spPr>
          <a:xfrm>
            <a:off x="5167092" y="5038344"/>
            <a:ext cx="120686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标准体
</a:t>
            </a:r>
            <a:endParaRPr sz="1050"/>
          </a:p>
          <a:p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0–45</a:t>
            </a:r>
            <a:endParaRPr sz="1050"/>
          </a:p>
        </p:txBody>
      </p:sp>
      <p:sp>
        <p:nvSpPr>
          <p:cNvPr id="22" name="Shape 19"/>
          <p:cNvSpPr>
            <a:spLocks noGrp="1"/>
          </p:cNvSpPr>
          <p:nvPr/>
        </p:nvSpPr>
        <p:spPr>
          <a:xfrm>
            <a:off x="6465393" y="5038344"/>
            <a:ext cx="1206862" cy="585216"/>
          </a:xfrm>
          <a:prstGeom prst="roundRect">
            <a:avLst>
              <a:gd name="adj" fmla="val 9375"/>
            </a:avLst>
          </a:prstGeom>
          <a:solidFill>
            <a:srgbClr val="5DBE7E"/>
          </a:solidFill>
        </p:spPr>
      </p:sp>
      <p:sp>
        <p:nvSpPr>
          <p:cNvPr id="23" name="Text 20"/>
          <p:cNvSpPr>
            <a:spLocks noGrp="1"/>
          </p:cNvSpPr>
          <p:nvPr/>
        </p:nvSpPr>
        <p:spPr>
          <a:xfrm>
            <a:off x="6465393" y="5038344"/>
            <a:ext cx="120686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次标体A
</a:t>
            </a:r>
            <a:endParaRPr sz="1050"/>
          </a:p>
          <a:p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50–65</a:t>
            </a:r>
            <a:endParaRPr sz="1050"/>
          </a:p>
        </p:txBody>
      </p:sp>
      <p:sp>
        <p:nvSpPr>
          <p:cNvPr id="24" name="Shape 21"/>
          <p:cNvSpPr>
            <a:spLocks noGrp="1"/>
          </p:cNvSpPr>
          <p:nvPr/>
        </p:nvSpPr>
        <p:spPr>
          <a:xfrm>
            <a:off x="7763695" y="5038344"/>
            <a:ext cx="1206862" cy="585216"/>
          </a:xfrm>
          <a:prstGeom prst="roundRect">
            <a:avLst>
              <a:gd name="adj" fmla="val 9375"/>
            </a:avLst>
          </a:prstGeom>
          <a:solidFill>
            <a:srgbClr val="E8A33D"/>
          </a:solidFill>
        </p:spPr>
      </p:sp>
      <p:sp>
        <p:nvSpPr>
          <p:cNvPr id="25" name="Text 22"/>
          <p:cNvSpPr>
            <a:spLocks noGrp="1"/>
          </p:cNvSpPr>
          <p:nvPr/>
        </p:nvSpPr>
        <p:spPr>
          <a:xfrm>
            <a:off x="7763695" y="5038344"/>
            <a:ext cx="120686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次标体B
</a:t>
            </a:r>
            <a:endParaRPr sz="1050"/>
          </a:p>
          <a:p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70–80</a:t>
            </a:r>
            <a:endParaRPr sz="1050"/>
          </a:p>
        </p:txBody>
      </p:sp>
      <p:sp>
        <p:nvSpPr>
          <p:cNvPr id="26" name="Shape 23"/>
          <p:cNvSpPr>
            <a:spLocks noGrp="1"/>
          </p:cNvSpPr>
          <p:nvPr/>
        </p:nvSpPr>
        <p:spPr>
          <a:xfrm>
            <a:off x="9061997" y="5038344"/>
            <a:ext cx="1206862" cy="585216"/>
          </a:xfrm>
          <a:prstGeom prst="roundRect">
            <a:avLst>
              <a:gd name="adj" fmla="val 9375"/>
            </a:avLst>
          </a:prstGeom>
          <a:solidFill>
            <a:srgbClr val="E07B4A"/>
          </a:solidFill>
        </p:spPr>
      </p:sp>
      <p:sp>
        <p:nvSpPr>
          <p:cNvPr id="27" name="Text 24"/>
          <p:cNvSpPr>
            <a:spLocks noGrp="1"/>
          </p:cNvSpPr>
          <p:nvPr/>
        </p:nvSpPr>
        <p:spPr>
          <a:xfrm>
            <a:off x="9061997" y="5038344"/>
            <a:ext cx="120686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高风险
</a:t>
            </a:r>
            <a:endParaRPr sz="1050"/>
          </a:p>
          <a:p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85–95</a:t>
            </a:r>
            <a:endParaRPr sz="1050"/>
          </a:p>
        </p:txBody>
      </p:sp>
      <p:sp>
        <p:nvSpPr>
          <p:cNvPr id="28" name="Shape 25"/>
          <p:cNvSpPr>
            <a:spLocks noGrp="1"/>
          </p:cNvSpPr>
          <p:nvPr/>
        </p:nvSpPr>
        <p:spPr>
          <a:xfrm>
            <a:off x="10360298" y="5038344"/>
            <a:ext cx="1206862" cy="585216"/>
          </a:xfrm>
          <a:prstGeom prst="roundRect">
            <a:avLst>
              <a:gd name="adj" fmla="val 9375"/>
            </a:avLst>
          </a:prstGeom>
          <a:solidFill>
            <a:srgbClr val="D94C4C"/>
          </a:solidFill>
        </p:spPr>
      </p:sp>
      <p:sp>
        <p:nvSpPr>
          <p:cNvPr id="29" name="Text 26"/>
          <p:cNvSpPr>
            <a:spLocks noGrp="1"/>
          </p:cNvSpPr>
          <p:nvPr/>
        </p:nvSpPr>
        <p:spPr>
          <a:xfrm>
            <a:off x="10360298" y="5038344"/>
            <a:ext cx="120686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拒保体
</a:t>
            </a:r>
            <a:endParaRPr sz="1050"/>
          </a:p>
          <a:p>
            <a:pPr marL="0" indent="0" algn="ctr"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拒保</a:t>
            </a:r>
            <a:endParaRPr sz="1050"/>
          </a:p>
        </p:txBody>
      </p:sp>
      <p:sp>
        <p:nvSpPr>
          <p:cNvPr id="31" name="Text 28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技术实现</a:t>
            </a:r>
            <a:r>
              <a:rPr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② · 时序图</a:t>
            </a:r>
            <a:endParaRPr b="1" spc="200">
              <a:solidFill>
                <a:srgbClr val="1C6DD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核心业务时序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8775"/>
            <a:ext cx="11055096" cy="2095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四条关键流程覆盖预测、审批、自然语言交互和规则优化闭环</a:t>
            </a:r>
            <a:endParaRPr sz="1300"/>
          </a:p>
        </p:txBody>
      </p:sp>
      <p:sp>
        <p:nvSpPr>
          <p:cNvPr id="31" name="Text 28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10B</a:t>
            </a:r>
            <a:endParaRPr sz="900"/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552450" y="1885950"/>
            <a:ext cx="5334000" cy="195262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478">
            <a:solidFill>
              <a:srgbClr val="DCE6F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33" name="矩形 32"/>
          <p:cNvSpPr>
            <a:spLocks noGrp="1"/>
          </p:cNvSpPr>
          <p:nvPr/>
        </p:nvSpPr>
        <p:spPr>
          <a:xfrm>
            <a:off x="723900" y="2047875"/>
            <a:ext cx="47625" cy="209550"/>
          </a:xfrm>
          <a:prstGeom prst="rect">
            <a:avLst/>
          </a:prstGeom>
          <a:solidFill>
            <a:srgbClr val="E9A12A"/>
          </a:solidFill>
          <a:ln w="0">
            <a:noFill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76300" y="20193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单条核保预测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65" name="图片 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3069" y="2295525"/>
            <a:ext cx="2732762" cy="1257300"/>
          </a:xfrm>
          <a:prstGeom prst="rect">
            <a:avLst/>
          </a:prstGeom>
        </p:spPr>
      </p:pic>
      <p:sp>
        <p:nvSpPr>
          <p:cNvPr id="36" name="矩形 35"/>
          <p:cNvSpPr>
            <a:spLocks noGrp="1"/>
          </p:cNvSpPr>
          <p:nvPr/>
        </p:nvSpPr>
        <p:spPr>
          <a:xfrm>
            <a:off x="742950" y="3581400"/>
            <a:ext cx="4953000" cy="1619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25694"/>
          </a:bodyPr>
          <a:lstStyle/>
          <a:p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预测主链路：读取画像、规则计算、结果回写与置信度留痕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6286500" y="1885950"/>
            <a:ext cx="5334000" cy="195262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478">
            <a:solidFill>
              <a:srgbClr val="DCE6F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38" name="矩形 37"/>
          <p:cNvSpPr>
            <a:spLocks noGrp="1"/>
          </p:cNvSpPr>
          <p:nvPr/>
        </p:nvSpPr>
        <p:spPr>
          <a:xfrm>
            <a:off x="6457950" y="2047875"/>
            <a:ext cx="47625" cy="209550"/>
          </a:xfrm>
          <a:prstGeom prst="rect">
            <a:avLst/>
          </a:prstGeom>
          <a:solidFill>
            <a:srgbClr val="E9A12A"/>
          </a:solidFill>
          <a:ln w="0">
            <a:noFill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610350" y="20193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人工修整与审批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70" name="图片 6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372" y="2295525"/>
            <a:ext cx="2202257" cy="1257300"/>
          </a:xfrm>
          <a:prstGeom prst="rect">
            <a:avLst/>
          </a:prstGeom>
        </p:spPr>
      </p:pic>
      <p:sp>
        <p:nvSpPr>
          <p:cNvPr id="41" name="矩形 40"/>
          <p:cNvSpPr>
            <a:spLocks noGrp="1"/>
          </p:cNvSpPr>
          <p:nvPr/>
        </p:nvSpPr>
        <p:spPr>
          <a:xfrm>
            <a:off x="6477000" y="3581400"/>
            <a:ext cx="4953000" cy="1619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25694"/>
          </a:bodyPr>
          <a:lstStyle/>
          <a:p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人工干预保留 AI 基线、审核状态与全量审计轨迹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552450" y="4000500"/>
            <a:ext cx="5334000" cy="195262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478">
            <a:solidFill>
              <a:srgbClr val="DCE6F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43" name="矩形 42"/>
          <p:cNvSpPr>
            <a:spLocks noGrp="1"/>
          </p:cNvSpPr>
          <p:nvPr/>
        </p:nvSpPr>
        <p:spPr>
          <a:xfrm>
            <a:off x="723900" y="4162425"/>
            <a:ext cx="47625" cy="209550"/>
          </a:xfrm>
          <a:prstGeom prst="rect">
            <a:avLst/>
          </a:prstGeom>
          <a:solidFill>
            <a:srgbClr val="E9A12A"/>
          </a:solidFill>
          <a:ln w="0">
            <a:noFill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876300" y="413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自然语言指令解析与路由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75" name="图片 7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42" y="4410075"/>
            <a:ext cx="1505017" cy="1257300"/>
          </a:xfrm>
          <a:prstGeom prst="rect">
            <a:avLst/>
          </a:prstGeom>
        </p:spPr>
      </p:pic>
      <p:sp>
        <p:nvSpPr>
          <p:cNvPr id="46" name="矩形 45"/>
          <p:cNvSpPr>
            <a:spLocks noGrp="1"/>
          </p:cNvSpPr>
          <p:nvPr/>
        </p:nvSpPr>
        <p:spPr>
          <a:xfrm>
            <a:off x="742950" y="5695950"/>
            <a:ext cx="4953000" cy="1619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25694"/>
          </a:bodyPr>
          <a:lstStyle/>
          <a:p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LLM 优先解析，失败时以本地规则兜底并路由到业务服务</a:t>
            </a:r>
            <a:endParaRPr>
              <a:solidFill>
                <a:srgbClr val="667085"/>
              </a:solidFill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6286500" y="4000500"/>
            <a:ext cx="5334000" cy="195262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478">
            <a:solidFill>
              <a:srgbClr val="DCE6F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48" name="矩形 47"/>
          <p:cNvSpPr>
            <a:spLocks noGrp="1"/>
          </p:cNvSpPr>
          <p:nvPr/>
        </p:nvSpPr>
        <p:spPr>
          <a:xfrm>
            <a:off x="6457950" y="4162425"/>
            <a:ext cx="47625" cy="209550"/>
          </a:xfrm>
          <a:prstGeom prst="rect">
            <a:avLst/>
          </a:prstGeom>
          <a:solidFill>
            <a:srgbClr val="E9A12A"/>
          </a:solidFill>
          <a:ln w="0">
            <a:noFill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6610350" y="413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反馈转规则建议闭环</a:t>
            </a:r>
            <a:endParaRPr b="1">
              <a:solidFill>
                <a:srgbClr val="1F2733"/>
              </a:solidFill>
            </a:endParaRPr>
          </a:p>
        </p:txBody>
      </p:sp>
      <p:pic>
        <p:nvPicPr>
          <p:cNvPr id="80" name="图片 7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819" y="4410075"/>
            <a:ext cx="3009363" cy="1257300"/>
          </a:xfrm>
          <a:prstGeom prst="rect">
            <a:avLst/>
          </a:prstGeom>
        </p:spPr>
      </p:pic>
      <p:sp>
        <p:nvSpPr>
          <p:cNvPr id="51" name="矩形 50"/>
          <p:cNvSpPr>
            <a:spLocks noGrp="1"/>
          </p:cNvSpPr>
          <p:nvPr/>
        </p:nvSpPr>
        <p:spPr>
          <a:xfrm>
            <a:off x="6477000" y="5695950"/>
            <a:ext cx="4953000" cy="1619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25694"/>
          </a:bodyPr>
          <a:lstStyle/>
          <a:p>
            <a:pPr algn="ctr">
              <a:buNone/>
              <a:defRPr>
                <a:solidFill>
                  <a:srgbClr val="667085"/>
                </a:solidFill>
              </a:defRPr>
            </a:pPr>
            <a:r>
              <a:rPr>
                <a:solidFill>
                  <a:srgbClr val="667085"/>
                </a:solidFill>
              </a:rPr>
              <a:t>反馈、建议、审核与扩展 JSON 数据持久化形成闭环</a:t>
            </a:r>
            <a:endParaRPr>
              <a:solidFill>
                <a:srgbClr val="66708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TECH ③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落地核心流程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三条主流程贯穿核保全生命周期：自动核保 → 分级审批 → 反馈闭环。</a:t>
            </a:r>
            <a:endParaRPr sz="13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94560"/>
            <a:ext cx="3441192" cy="512064"/>
          </a:xfrm>
          <a:prstGeom prst="roundRect">
            <a:avLst>
              <a:gd name="adj" fmla="val 12500"/>
            </a:avLst>
          </a:prstGeom>
          <a:solidFill>
            <a:srgbClr val="1C6DD0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66928" y="2194560"/>
            <a:ext cx="3441192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自动核保流程</a:t>
            </a:r>
            <a:endParaRPr sz="1400"/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886968" y="297180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1C6DD0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886968" y="297180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投保数据接入</a:t>
            </a:r>
            <a:endParaRPr sz="1200"/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2104644" y="350215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886968" y="379476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1C6DD0"/>
            </a:solidFill>
            <a:prstDash val="solid"/>
          </a:ln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886968" y="379476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规则引擎计分</a:t>
            </a:r>
            <a:endParaRPr sz="120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2104644" y="432511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5" name="Shape 13"/>
          <p:cNvSpPr>
            <a:spLocks noGrp="1"/>
          </p:cNvSpPr>
          <p:nvPr/>
        </p:nvSpPr>
        <p:spPr>
          <a:xfrm>
            <a:off x="886968" y="461772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1C6DD0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86968" y="461772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语义增强</a:t>
            </a:r>
            <a:endParaRPr sz="12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2104644" y="514807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886968" y="544068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1C6DD0"/>
            </a:solidFill>
            <a:prstDash val="solid"/>
          </a:ln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886968" y="544068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风险分级 + 结论</a:t>
            </a:r>
            <a:endParaRPr sz="120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2104644" y="597103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21" name="Shape 19"/>
          <p:cNvSpPr>
            <a:spLocks noGrp="1"/>
          </p:cNvSpPr>
          <p:nvPr/>
        </p:nvSpPr>
        <p:spPr>
          <a:xfrm>
            <a:off x="886968" y="626364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1C6DD0"/>
            </a:solidFill>
            <a:prstDash val="solid"/>
          </a:ln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886968" y="626364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结果备份</a:t>
            </a:r>
            <a:endParaRPr sz="1200"/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4373880" y="2194560"/>
            <a:ext cx="3441192" cy="512064"/>
          </a:xfrm>
          <a:prstGeom prst="roundRect">
            <a:avLst>
              <a:gd name="adj" fmla="val 12500"/>
            </a:avLst>
          </a:prstGeom>
          <a:solidFill>
            <a:srgbClr val="E8A33D"/>
          </a:solidFill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4373880" y="2194560"/>
            <a:ext cx="3441192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分级审批流程</a:t>
            </a:r>
            <a:endParaRPr sz="1400"/>
          </a:p>
        </p:txBody>
      </p:sp>
      <p:sp>
        <p:nvSpPr>
          <p:cNvPr id="25" name="Shape 23"/>
          <p:cNvSpPr>
            <a:spLocks noGrp="1"/>
          </p:cNvSpPr>
          <p:nvPr/>
        </p:nvSpPr>
        <p:spPr>
          <a:xfrm>
            <a:off x="4693920" y="297180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>
            <a:spLocks noGrp="1"/>
          </p:cNvSpPr>
          <p:nvPr/>
        </p:nvSpPr>
        <p:spPr>
          <a:xfrm>
            <a:off x="4693920" y="297180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自动核保</a:t>
            </a:r>
            <a:endParaRPr sz="120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5911596" y="350215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28" name="Shape 26"/>
          <p:cNvSpPr>
            <a:spLocks noGrp="1"/>
          </p:cNvSpPr>
          <p:nvPr/>
        </p:nvSpPr>
        <p:spPr>
          <a:xfrm>
            <a:off x="4693920" y="379476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9" name="Text 27"/>
          <p:cNvSpPr>
            <a:spLocks noGrp="1"/>
          </p:cNvSpPr>
          <p:nvPr/>
        </p:nvSpPr>
        <p:spPr>
          <a:xfrm>
            <a:off x="4693920" y="379476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人工修整（必填原因）</a:t>
            </a:r>
            <a:endParaRPr sz="1200"/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5911596" y="432511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1" name="Shape 29"/>
          <p:cNvSpPr>
            <a:spLocks noGrp="1"/>
          </p:cNvSpPr>
          <p:nvPr/>
        </p:nvSpPr>
        <p:spPr>
          <a:xfrm>
            <a:off x="4693920" y="461772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>
            <a:spLocks noGrp="1"/>
          </p:cNvSpPr>
          <p:nvPr/>
        </p:nvSpPr>
        <p:spPr>
          <a:xfrm>
            <a:off x="4693920" y="461772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严重程度判定</a:t>
            </a:r>
            <a:endParaRPr sz="1200"/>
          </a:p>
        </p:txBody>
      </p:sp>
      <p:sp>
        <p:nvSpPr>
          <p:cNvPr id="33" name="Text 31"/>
          <p:cNvSpPr>
            <a:spLocks noGrp="1"/>
          </p:cNvSpPr>
          <p:nvPr/>
        </p:nvSpPr>
        <p:spPr>
          <a:xfrm>
            <a:off x="5911596" y="514807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4" name="Shape 32"/>
          <p:cNvSpPr>
            <a:spLocks noGrp="1"/>
          </p:cNvSpPr>
          <p:nvPr/>
        </p:nvSpPr>
        <p:spPr>
          <a:xfrm>
            <a:off x="4693920" y="544068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5" name="Text 33"/>
          <p:cNvSpPr>
            <a:spLocks noGrp="1"/>
          </p:cNvSpPr>
          <p:nvPr/>
        </p:nvSpPr>
        <p:spPr>
          <a:xfrm>
            <a:off x="4693920" y="544068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一级/二级分级审批</a:t>
            </a:r>
            <a:endParaRPr sz="120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5911596" y="597103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37" name="Shape 35"/>
          <p:cNvSpPr>
            <a:spLocks noGrp="1"/>
          </p:cNvSpPr>
          <p:nvPr/>
        </p:nvSpPr>
        <p:spPr>
          <a:xfrm>
            <a:off x="4693920" y="626364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8" name="Text 36"/>
          <p:cNvSpPr>
            <a:spLocks noGrp="1"/>
          </p:cNvSpPr>
          <p:nvPr/>
        </p:nvSpPr>
        <p:spPr>
          <a:xfrm>
            <a:off x="4693920" y="626364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生效 / 驳回回退</a:t>
            </a:r>
            <a:endParaRPr sz="1200"/>
          </a:p>
        </p:txBody>
      </p:sp>
      <p:sp>
        <p:nvSpPr>
          <p:cNvPr id="39" name="Shape 37"/>
          <p:cNvSpPr>
            <a:spLocks noGrp="1"/>
          </p:cNvSpPr>
          <p:nvPr/>
        </p:nvSpPr>
        <p:spPr>
          <a:xfrm>
            <a:off x="8180832" y="2194560"/>
            <a:ext cx="3441192" cy="512064"/>
          </a:xfrm>
          <a:prstGeom prst="roundRect">
            <a:avLst>
              <a:gd name="adj" fmla="val 12500"/>
            </a:avLst>
          </a:prstGeom>
          <a:solidFill>
            <a:srgbClr val="2E9E5B"/>
          </a:solidFill>
        </p:spPr>
      </p:sp>
      <p:sp>
        <p:nvSpPr>
          <p:cNvPr id="40" name="Text 38"/>
          <p:cNvSpPr>
            <a:spLocks noGrp="1"/>
          </p:cNvSpPr>
          <p:nvPr/>
        </p:nvSpPr>
        <p:spPr>
          <a:xfrm>
            <a:off x="8180832" y="2194560"/>
            <a:ext cx="3441192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反馈闭环流程</a:t>
            </a:r>
            <a:endParaRPr sz="1400"/>
          </a:p>
        </p:txBody>
      </p:sp>
      <p:sp>
        <p:nvSpPr>
          <p:cNvPr id="41" name="Shape 39"/>
          <p:cNvSpPr>
            <a:spLocks noGrp="1"/>
          </p:cNvSpPr>
          <p:nvPr/>
        </p:nvSpPr>
        <p:spPr>
          <a:xfrm>
            <a:off x="8500872" y="297180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42" name="Text 40"/>
          <p:cNvSpPr>
            <a:spLocks noGrp="1"/>
          </p:cNvSpPr>
          <p:nvPr/>
        </p:nvSpPr>
        <p:spPr>
          <a:xfrm>
            <a:off x="8500872" y="297180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误判申诉 / 规则优化</a:t>
            </a:r>
            <a:endParaRPr sz="1200"/>
          </a:p>
        </p:txBody>
      </p:sp>
      <p:sp>
        <p:nvSpPr>
          <p:cNvPr id="43" name="Text 41"/>
          <p:cNvSpPr>
            <a:spLocks noGrp="1"/>
          </p:cNvSpPr>
          <p:nvPr/>
        </p:nvSpPr>
        <p:spPr>
          <a:xfrm>
            <a:off x="9718548" y="350215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44" name="Shape 42"/>
          <p:cNvSpPr>
            <a:spLocks noGrp="1"/>
          </p:cNvSpPr>
          <p:nvPr/>
        </p:nvSpPr>
        <p:spPr>
          <a:xfrm>
            <a:off x="8500872" y="379476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45" name="Text 43"/>
          <p:cNvSpPr>
            <a:spLocks noGrp="1"/>
          </p:cNvSpPr>
          <p:nvPr/>
        </p:nvSpPr>
        <p:spPr>
          <a:xfrm>
            <a:off x="8500872" y="379476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转规则优化建议</a:t>
            </a:r>
            <a:endParaRPr sz="1200"/>
          </a:p>
        </p:txBody>
      </p:sp>
      <p:sp>
        <p:nvSpPr>
          <p:cNvPr id="46" name="Text 44"/>
          <p:cNvSpPr>
            <a:spLocks noGrp="1"/>
          </p:cNvSpPr>
          <p:nvPr/>
        </p:nvSpPr>
        <p:spPr>
          <a:xfrm>
            <a:off x="9718548" y="432511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47" name="Shape 45"/>
          <p:cNvSpPr>
            <a:spLocks noGrp="1"/>
          </p:cNvSpPr>
          <p:nvPr/>
        </p:nvSpPr>
        <p:spPr>
          <a:xfrm>
            <a:off x="8500872" y="461772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48" name="Text 46"/>
          <p:cNvSpPr>
            <a:spLocks noGrp="1"/>
          </p:cNvSpPr>
          <p:nvPr/>
        </p:nvSpPr>
        <p:spPr>
          <a:xfrm>
            <a:off x="8500872" y="461772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人工确认（采纳/驳回）</a:t>
            </a:r>
            <a:endParaRPr sz="1200"/>
          </a:p>
        </p:txBody>
      </p:sp>
      <p:sp>
        <p:nvSpPr>
          <p:cNvPr id="49" name="Text 47"/>
          <p:cNvSpPr>
            <a:spLocks noGrp="1"/>
          </p:cNvSpPr>
          <p:nvPr/>
        </p:nvSpPr>
        <p:spPr>
          <a:xfrm>
            <a:off x="9718548" y="514807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50" name="Shape 48"/>
          <p:cNvSpPr>
            <a:spLocks noGrp="1"/>
          </p:cNvSpPr>
          <p:nvPr/>
        </p:nvSpPr>
        <p:spPr>
          <a:xfrm>
            <a:off x="8500872" y="544068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1" name="Text 49"/>
          <p:cNvSpPr>
            <a:spLocks noGrp="1"/>
          </p:cNvSpPr>
          <p:nvPr/>
        </p:nvSpPr>
        <p:spPr>
          <a:xfrm>
            <a:off x="8500872" y="544068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反哺规则知识库</a:t>
            </a:r>
            <a:endParaRPr sz="1200"/>
          </a:p>
        </p:txBody>
      </p:sp>
      <p:sp>
        <p:nvSpPr>
          <p:cNvPr id="52" name="Text 50"/>
          <p:cNvSpPr>
            <a:spLocks noGrp="1"/>
          </p:cNvSpPr>
          <p:nvPr/>
        </p:nvSpPr>
        <p:spPr>
          <a:xfrm>
            <a:off x="9718548" y="5971032"/>
            <a:ext cx="365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↓</a:t>
            </a:r>
            <a:endParaRPr sz="1400"/>
          </a:p>
        </p:txBody>
      </p:sp>
      <p:sp>
        <p:nvSpPr>
          <p:cNvPr id="53" name="Shape 51"/>
          <p:cNvSpPr>
            <a:spLocks noGrp="1"/>
          </p:cNvSpPr>
          <p:nvPr/>
        </p:nvSpPr>
        <p:spPr>
          <a:xfrm>
            <a:off x="8500872" y="6263640"/>
            <a:ext cx="2801112" cy="566928"/>
          </a:xfrm>
          <a:prstGeom prst="roundRect">
            <a:avLst>
              <a:gd name="adj" fmla="val 9677"/>
            </a:avLst>
          </a:prstGeom>
          <a:solidFill>
            <a:srgbClr val="F4F8FD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4" name="Text 52"/>
          <p:cNvSpPr>
            <a:spLocks noGrp="1"/>
          </p:cNvSpPr>
          <p:nvPr/>
        </p:nvSpPr>
        <p:spPr>
          <a:xfrm>
            <a:off x="8500872" y="6263640"/>
            <a:ext cx="280111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越用越准</a:t>
            </a:r>
            <a:endParaRPr sz="1200"/>
          </a:p>
        </p:txBody>
      </p:sp>
      <p:sp>
        <p:nvSpPr>
          <p:cNvPr id="56" name="Text 54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326880" y="-914400"/>
            <a:ext cx="4206240" cy="4206240"/>
          </a:xfrm>
          <a:prstGeom prst="ellipse">
            <a:avLst/>
          </a:prstGeom>
          <a:solidFill>
            <a:srgbClr val="1C6DD0">
              <a:alpha val="26000"/>
            </a:srgbClr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274320" y="2011680"/>
            <a:ext cx="5943600" cy="2926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20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394960" y="2788920"/>
            <a:ext cx="256032" cy="1097280"/>
          </a:xfrm>
          <a:prstGeom prst="roundRect">
            <a:avLst>
              <a:gd name="adj" fmla="val 21429"/>
            </a:avLst>
          </a:prstGeom>
          <a:solidFill>
            <a:srgbClr val="E8A33D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806440" y="278892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核心创新亮点</a:t>
            </a:r>
            <a:endParaRPr sz="4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852160" y="361188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KEY INNOVATIONS</a:t>
            </a:r>
            <a:endParaRPr sz="14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5" name="圆角矩形 74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oundRect">
            <a:avLst>
              <a:gd name="adj" fmla="val 11905"/>
            </a:avLst>
          </a:prstGeom>
          <a:solidFill>
            <a:srgbClr val="216ED0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66928" y="438150"/>
            <a:ext cx="640080" cy="6781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</a:rPr>
              <a:t>①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408176" y="457200"/>
            <a:ext cx="10213848" cy="438912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b="1">
                <a:solidFill>
                  <a:srgbClr val="1F2733"/>
                </a:solidFill>
              </a:defRPr>
            </a:pPr>
            <a:r>
              <a:rPr b="1">
                <a:solidFill>
                  <a:srgbClr val="1F2733"/>
                </a:solidFill>
              </a:rPr>
              <a:t>业务流程改造：从人工到智能</a:t>
            </a:r>
            <a:endParaRPr b="1">
              <a:solidFill>
                <a:srgbClr val="1F27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08176" y="914400"/>
            <a:ext cx="10213848" cy="310896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0000"/>
          </a:bodyPr>
          <a:lstStyle/>
          <a:p>
            <a:pPr>
              <a:buNone/>
              <a:defRPr b="1">
                <a:solidFill>
                  <a:srgbClr val="1C6DD0"/>
                </a:solidFill>
              </a:defRPr>
            </a:pPr>
            <a:r>
              <a:rPr b="1">
                <a:solidFill>
                  <a:srgbClr val="1C6DD0"/>
                </a:solidFill>
              </a:rPr>
              <a:t>将人工逐项核对与经验判断，升级为 Agent 协同、规则统一评分与异常人工复核。</a:t>
            </a:r>
            <a:endParaRPr b="1">
              <a:solidFill>
                <a:srgbClr val="1C6DD0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905000" y="1524000"/>
            <a:ext cx="714375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65788C"/>
                </a:solidFill>
              </a:defRPr>
            </a:pPr>
            <a:r>
              <a:rPr b="1">
                <a:solidFill>
                  <a:srgbClr val="65788C"/>
                </a:solidFill>
              </a:rPr>
              <a:t>人工阶段：效率低、标准不一、易漏判且过程难追溯</a:t>
            </a:r>
            <a:endParaRPr b="1">
              <a:solidFill>
                <a:srgbClr val="65788C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809750"/>
            <a:ext cx="1066800" cy="904875"/>
          </a:xfrm>
          <a:prstGeom prst="roundRect">
            <a:avLst>
              <a:gd name="adj" fmla="val 8421"/>
            </a:avLst>
          </a:prstGeom>
          <a:solidFill>
            <a:srgbClr val="6E8094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57225" y="1990725"/>
            <a:ext cx="8953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1875"/>
          </a:bodyPr>
          <a:lstStyle/>
          <a:p>
            <a:pPr algn="ctr">
              <a:buNone/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</a:rPr>
              <a:t>人工</a:t>
            </a:r>
            <a:endParaRPr b="1">
              <a:solidFill>
                <a:srgbClr val="FFFFFF"/>
              </a:solidFill>
            </a:endParaRPr>
          </a:p>
          <a:p>
            <a:pPr algn="ctr">
              <a:buNone/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</a:rPr>
              <a:t>核保流程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1905000" y="1809750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7F9FB"/>
          </a:solidFill>
          <a:ln w="10954">
            <a:solidFill>
              <a:srgbClr val="9BA9B9"/>
            </a:solidFill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1905000" y="1809750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9BA9B9"/>
          </a:soli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981200" y="1952625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投保申请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981200" y="2295525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健康告知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体检资料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467100" y="200977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9BA9B9"/>
                </a:solidFill>
              </a:defRPr>
            </a:pPr>
            <a:r>
              <a:rPr b="1">
                <a:solidFill>
                  <a:srgbClr val="9BA9B9"/>
                </a:solidFill>
              </a:rPr>
              <a:t>→</a:t>
            </a:r>
            <a:endParaRPr b="1">
              <a:solidFill>
                <a:srgbClr val="9BA9B9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810000" y="1809750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7F9FB"/>
          </a:solidFill>
          <a:ln w="10954">
            <a:solidFill>
              <a:srgbClr val="9BA9B9"/>
            </a:solidFill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3810000" y="1809750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9BA9B9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3886200" y="1952625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逐项核对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886200" y="2295525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病史、体检、规则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0.5–1 小时/单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72100" y="200977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9BA9B9"/>
                </a:solidFill>
              </a:defRPr>
            </a:pPr>
            <a:r>
              <a:rPr b="1">
                <a:solidFill>
                  <a:srgbClr val="9BA9B9"/>
                </a:solidFill>
              </a:rPr>
              <a:t>→</a:t>
            </a:r>
            <a:endParaRPr b="1">
              <a:solidFill>
                <a:srgbClr val="9BA9B9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5715000" y="1809750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7F9FB"/>
          </a:solidFill>
          <a:ln w="10954">
            <a:solidFill>
              <a:srgbClr val="9BA9B9"/>
            </a:solidFill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5715000" y="1809750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9BA9B9"/>
          </a:solidFill>
          <a:ln w="0">
            <a:noFill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791200" y="1952625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经验研判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791200" y="2295525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理解有差异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标准不统一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277100" y="200977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9BA9B9"/>
                </a:solidFill>
              </a:defRPr>
            </a:pPr>
            <a:r>
              <a:rPr b="1">
                <a:solidFill>
                  <a:srgbClr val="9BA9B9"/>
                </a:solidFill>
              </a:rPr>
              <a:t>→</a:t>
            </a:r>
            <a:endParaRPr b="1">
              <a:solidFill>
                <a:srgbClr val="9BA9B9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620000" y="1809750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7F9FB"/>
          </a:solidFill>
          <a:ln w="10954">
            <a:solidFill>
              <a:srgbClr val="9BA9B9"/>
            </a:solidFill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7620000" y="1809750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9BA9B9"/>
          </a:solidFill>
          <a:ln w="0">
            <a:noFill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96200" y="1952625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人工登记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96200" y="2295525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结论与依据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人工补录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182100" y="200977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9BA9B9"/>
                </a:solidFill>
              </a:defRPr>
            </a:pPr>
            <a:r>
              <a:rPr b="1">
                <a:solidFill>
                  <a:srgbClr val="9BA9B9"/>
                </a:solidFill>
              </a:rPr>
              <a:t>→</a:t>
            </a:r>
            <a:endParaRPr b="1">
              <a:solidFill>
                <a:srgbClr val="9BA9B9"/>
              </a:solidFill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9525000" y="1809750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7F9FB"/>
          </a:solidFill>
          <a:ln w="10954">
            <a:solidFill>
              <a:srgbClr val="9BA9B9"/>
            </a:solidFill>
          </a:ln>
        </p:spPr>
      </p:sp>
      <p:sp>
        <p:nvSpPr>
          <p:cNvPr id="29" name="圆角矩形 28"/>
          <p:cNvSpPr>
            <a:spLocks noGrp="1"/>
          </p:cNvSpPr>
          <p:nvPr/>
        </p:nvSpPr>
        <p:spPr>
          <a:xfrm>
            <a:off x="9525000" y="1809750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9BA9B9"/>
          </a:solidFill>
          <a:ln w="0">
            <a:noFill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601200" y="1952625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事后回溯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601200" y="2295525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漏判或异常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抽检后发现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905000" y="2905125"/>
            <a:ext cx="714375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0000"/>
          </a:bodyPr>
          <a:lstStyle/>
          <a:p>
            <a:pPr>
              <a:buNone/>
              <a:defRPr b="1">
                <a:solidFill>
                  <a:srgbClr val="1C6DD0"/>
                </a:solidFill>
              </a:defRPr>
            </a:pPr>
            <a:r>
              <a:rPr b="1">
                <a:solidFill>
                  <a:srgbClr val="1C6DD0"/>
                </a:solidFill>
              </a:rPr>
              <a:t>智能阶段：统一入口、规则评分、异常聚焦与全程留痕</a:t>
            </a:r>
            <a:endParaRPr b="1">
              <a:solidFill>
                <a:srgbClr val="1C6DD0"/>
              </a:solidFill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571500" y="3190875"/>
            <a:ext cx="1066800" cy="904875"/>
          </a:xfrm>
          <a:prstGeom prst="roundRect">
            <a:avLst>
              <a:gd name="adj" fmla="val 8421"/>
            </a:avLst>
          </a:prstGeom>
          <a:solidFill>
            <a:srgbClr val="216ED0"/>
          </a:solidFill>
          <a:ln w="0">
            <a:noFill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57225" y="3371850"/>
            <a:ext cx="895350" cy="4857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1875"/>
          </a:bodyPr>
          <a:lstStyle/>
          <a:p>
            <a:pPr algn="ctr">
              <a:buNone/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</a:rPr>
              <a:t>智能</a:t>
            </a:r>
            <a:endParaRPr b="1">
              <a:solidFill>
                <a:srgbClr val="FFFFFF"/>
              </a:solidFill>
            </a:endParaRPr>
          </a:p>
          <a:p>
            <a:pPr algn="ctr">
              <a:buNone/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</a:rPr>
              <a:t>核保流程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1905000" y="3190875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0F6FE"/>
          </a:solidFill>
          <a:ln w="10954">
            <a:solidFill>
              <a:srgbClr val="216ED0"/>
            </a:solidFill>
          </a:ln>
        </p:spPr>
      </p:sp>
      <p:sp>
        <p:nvSpPr>
          <p:cNvPr id="36" name="圆角矩形 35"/>
          <p:cNvSpPr>
            <a:spLocks noGrp="1"/>
          </p:cNvSpPr>
          <p:nvPr/>
        </p:nvSpPr>
        <p:spPr>
          <a:xfrm>
            <a:off x="1905000" y="3190875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216ED0"/>
          </a:solidFill>
          <a:ln w="0">
            <a:noFill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981200" y="3333750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统一受理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981200" y="3676650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投保信息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中文指令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3467100" y="33909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6A9CD6"/>
                </a:solidFill>
              </a:defRPr>
            </a:pPr>
            <a:r>
              <a:rPr b="1">
                <a:solidFill>
                  <a:srgbClr val="6A9CD6"/>
                </a:solidFill>
              </a:rPr>
              <a:t>→</a:t>
            </a:r>
            <a:endParaRPr b="1">
              <a:solidFill>
                <a:srgbClr val="6A9CD6"/>
              </a:solidFill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3810000" y="3190875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0FAF7"/>
          </a:solidFill>
          <a:ln w="10954">
            <a:solidFill>
              <a:srgbClr val="159B83"/>
            </a:solidFill>
          </a:ln>
        </p:spPr>
      </p:sp>
      <p:sp>
        <p:nvSpPr>
          <p:cNvPr id="41" name="圆角矩形 40"/>
          <p:cNvSpPr>
            <a:spLocks noGrp="1"/>
          </p:cNvSpPr>
          <p:nvPr/>
        </p:nvSpPr>
        <p:spPr>
          <a:xfrm>
            <a:off x="3810000" y="3190875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159B83"/>
          </a:solidFill>
          <a:ln w="0">
            <a:noFill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3886200" y="3333750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Agent 协同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3886200" y="3676650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提取信息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编排工具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372100" y="33909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6A9CD6"/>
                </a:solidFill>
              </a:defRPr>
            </a:pPr>
            <a:r>
              <a:rPr b="1">
                <a:solidFill>
                  <a:srgbClr val="6A9CD6"/>
                </a:solidFill>
              </a:rPr>
              <a:t>→</a:t>
            </a:r>
            <a:endParaRPr b="1">
              <a:solidFill>
                <a:srgbClr val="6A9CD6"/>
              </a:solidFill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5715000" y="3190875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FF8EB"/>
          </a:solidFill>
          <a:ln w="10954">
            <a:solidFill>
              <a:srgbClr val="E99B25"/>
            </a:solidFill>
          </a:ln>
        </p:spPr>
      </p:sp>
      <p:sp>
        <p:nvSpPr>
          <p:cNvPr id="46" name="圆角矩形 45"/>
          <p:cNvSpPr>
            <a:spLocks noGrp="1"/>
          </p:cNvSpPr>
          <p:nvPr/>
        </p:nvSpPr>
        <p:spPr>
          <a:xfrm>
            <a:off x="5715000" y="3190875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E99B25"/>
          </a:solidFill>
          <a:ln w="0">
            <a:noFill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5791200" y="3333750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规则评分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5791200" y="3676650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知识库计算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分级与结论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7277100" y="33909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6A9CD6"/>
                </a:solidFill>
              </a:defRPr>
            </a:pPr>
            <a:r>
              <a:rPr b="1">
                <a:solidFill>
                  <a:srgbClr val="6A9CD6"/>
                </a:solidFill>
              </a:rPr>
              <a:t>→</a:t>
            </a:r>
            <a:endParaRPr b="1">
              <a:solidFill>
                <a:srgbClr val="6A9CD6"/>
              </a:solidFill>
            </a:endParaRPr>
          </a:p>
        </p:txBody>
      </p:sp>
      <p:sp>
        <p:nvSpPr>
          <p:cNvPr id="50" name="圆角矩形 49"/>
          <p:cNvSpPr>
            <a:spLocks noGrp="1"/>
          </p:cNvSpPr>
          <p:nvPr/>
        </p:nvSpPr>
        <p:spPr>
          <a:xfrm>
            <a:off x="7620000" y="3190875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FF3EF"/>
          </a:solidFill>
          <a:ln w="10954">
            <a:solidFill>
              <a:srgbClr val="E37645"/>
            </a:solidFill>
          </a:ln>
        </p:spPr>
      </p:sp>
      <p:sp>
        <p:nvSpPr>
          <p:cNvPr id="51" name="圆角矩形 50"/>
          <p:cNvSpPr>
            <a:spLocks noGrp="1"/>
          </p:cNvSpPr>
          <p:nvPr/>
        </p:nvSpPr>
        <p:spPr>
          <a:xfrm>
            <a:off x="7620000" y="3190875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E37645"/>
          </a:solidFill>
          <a:ln w="0">
            <a:noFill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7696200" y="3333750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异常预警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7696200" y="3676650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实时记录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可解释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9182100" y="33909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6A9CD6"/>
                </a:solidFill>
              </a:defRPr>
            </a:pPr>
            <a:r>
              <a:rPr b="1">
                <a:solidFill>
                  <a:srgbClr val="6A9CD6"/>
                </a:solidFill>
              </a:rPr>
              <a:t>→</a:t>
            </a:r>
            <a:endParaRPr b="1">
              <a:solidFill>
                <a:srgbClr val="6A9CD6"/>
              </a:solidFill>
            </a:endParaRPr>
          </a:p>
        </p:txBody>
      </p:sp>
      <p:sp>
        <p:nvSpPr>
          <p:cNvPr id="55" name="圆角矩形 54"/>
          <p:cNvSpPr>
            <a:spLocks noGrp="1"/>
          </p:cNvSpPr>
          <p:nvPr/>
        </p:nvSpPr>
        <p:spPr>
          <a:xfrm>
            <a:off x="9525000" y="3190875"/>
            <a:ext cx="1524000" cy="904875"/>
          </a:xfrm>
          <a:prstGeom prst="roundRect">
            <a:avLst>
              <a:gd name="adj" fmla="val 8421"/>
            </a:avLst>
          </a:prstGeom>
          <a:solidFill>
            <a:srgbClr val="F0F6FE"/>
          </a:solidFill>
          <a:ln w="10954">
            <a:solidFill>
              <a:srgbClr val="216ED0"/>
            </a:solidFill>
          </a:ln>
        </p:spPr>
      </p:sp>
      <p:sp>
        <p:nvSpPr>
          <p:cNvPr id="56" name="圆角矩形 55"/>
          <p:cNvSpPr>
            <a:spLocks noGrp="1"/>
          </p:cNvSpPr>
          <p:nvPr/>
        </p:nvSpPr>
        <p:spPr>
          <a:xfrm>
            <a:off x="9525000" y="3190875"/>
            <a:ext cx="1524000" cy="66675"/>
          </a:xfrm>
          <a:prstGeom prst="roundRect">
            <a:avLst>
              <a:gd name="adj" fmla="val 50000"/>
            </a:avLst>
          </a:prstGeom>
          <a:solidFill>
            <a:srgbClr val="216ED0"/>
          </a:solidFill>
          <a:ln w="0">
            <a:noFill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9601200" y="3333750"/>
            <a:ext cx="13716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833"/>
          </a:bodyPr>
          <a:lstStyle/>
          <a:p>
            <a:pPr algn="ctr">
              <a:buNone/>
              <a:defRPr b="1">
                <a:solidFill>
                  <a:srgbClr val="1F2937"/>
                </a:solidFill>
              </a:defRPr>
            </a:pPr>
            <a:r>
              <a:rPr b="1">
                <a:solidFill>
                  <a:srgbClr val="1F2937"/>
                </a:solidFill>
              </a:rPr>
              <a:t>人工复核</a:t>
            </a:r>
            <a:endParaRPr b="1">
              <a:solidFill>
                <a:srgbClr val="1F2937"/>
              </a:solidFill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9601200" y="3676650"/>
            <a:ext cx="13716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7569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处理异常单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审核规则变更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2298065" y="4171950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b="1">
                <a:solidFill>
                  <a:srgbClr val="216ED0"/>
                </a:solidFill>
              </a:defRPr>
            </a:pPr>
            <a:r>
              <a:rPr b="1">
                <a:solidFill>
                  <a:srgbClr val="216ED0"/>
                </a:solidFill>
              </a:rPr>
              <a:t>↓</a:t>
            </a:r>
            <a:endParaRPr b="1">
              <a:solidFill>
                <a:srgbClr val="216ED0"/>
              </a:solidFill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5616575" y="4171950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b="1">
                <a:solidFill>
                  <a:srgbClr val="216ED0"/>
                </a:solidFill>
              </a:defRPr>
            </a:pPr>
            <a:r>
              <a:rPr b="1">
                <a:solidFill>
                  <a:srgbClr val="216ED0"/>
                </a:solidFill>
              </a:rPr>
              <a:t>↓</a:t>
            </a:r>
            <a:endParaRPr b="1">
              <a:solidFill>
                <a:srgbClr val="216ED0"/>
              </a:solidFill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9010650" y="4171950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b="1">
                <a:solidFill>
                  <a:srgbClr val="216ED0"/>
                </a:solidFill>
              </a:defRPr>
            </a:pPr>
            <a:r>
              <a:rPr b="1">
                <a:solidFill>
                  <a:srgbClr val="216ED0"/>
                </a:solidFill>
              </a:rPr>
              <a:t>↓</a:t>
            </a:r>
            <a:endParaRPr b="1">
              <a:solidFill>
                <a:srgbClr val="216ED0"/>
              </a:solidFill>
            </a:endParaRPr>
          </a:p>
        </p:txBody>
      </p:sp>
      <p:sp>
        <p:nvSpPr>
          <p:cNvPr id="62" name="圆角矩形 61"/>
          <p:cNvSpPr>
            <a:spLocks noGrp="1"/>
          </p:cNvSpPr>
          <p:nvPr/>
        </p:nvSpPr>
        <p:spPr>
          <a:xfrm>
            <a:off x="571500" y="4762500"/>
            <a:ext cx="11049000" cy="1190625"/>
          </a:xfrm>
          <a:prstGeom prst="roundRect">
            <a:avLst>
              <a:gd name="adj" fmla="val 6400"/>
            </a:avLst>
          </a:prstGeom>
          <a:solidFill>
            <a:srgbClr val="0F527C"/>
          </a:solidFill>
          <a:ln w="0">
            <a:noFill/>
          </a:ln>
        </p:spPr>
      </p:sp>
      <p:sp>
        <p:nvSpPr>
          <p:cNvPr id="63" name="圆角矩形 62"/>
          <p:cNvSpPr>
            <a:spLocks noGrp="1"/>
          </p:cNvSpPr>
          <p:nvPr/>
        </p:nvSpPr>
        <p:spPr>
          <a:xfrm>
            <a:off x="857250" y="4924425"/>
            <a:ext cx="29527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1028700" y="5057775"/>
            <a:ext cx="260985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7361"/>
          </a:bodyPr>
          <a:lstStyle/>
          <a:p>
            <a:pPr algn="ctr"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事前统一标准</a:t>
            </a:r>
            <a:endParaRPr b="1">
              <a:solidFill>
                <a:srgbClr val="113B68"/>
              </a:solidFill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028700" y="5362575"/>
            <a:ext cx="26098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5833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知识库统一评分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减少理解差异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3905250" y="51816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A7D7EB"/>
                </a:solidFill>
              </a:defRPr>
            </a:pPr>
            <a:r>
              <a:rPr b="1">
                <a:solidFill>
                  <a:srgbClr val="A7D7EB"/>
                </a:solidFill>
              </a:rPr>
              <a:t>→</a:t>
            </a:r>
            <a:endParaRPr b="1">
              <a:solidFill>
                <a:srgbClr val="A7D7EB"/>
              </a:solidFill>
            </a:endParaRPr>
          </a:p>
        </p:txBody>
      </p:sp>
      <p:sp>
        <p:nvSpPr>
          <p:cNvPr id="67" name="圆角矩形 66"/>
          <p:cNvSpPr>
            <a:spLocks noGrp="1"/>
          </p:cNvSpPr>
          <p:nvPr/>
        </p:nvSpPr>
        <p:spPr>
          <a:xfrm>
            <a:off x="4381500" y="4924425"/>
            <a:ext cx="29527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4552950" y="5057775"/>
            <a:ext cx="260985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7361"/>
          </a:bodyPr>
          <a:lstStyle/>
          <a:p>
            <a:pPr algn="ctr"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事中聚焦异常</a:t>
            </a:r>
            <a:endParaRPr b="1">
              <a:solidFill>
                <a:srgbClr val="113B68"/>
              </a:solidFill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4552950" y="5362575"/>
            <a:ext cx="26098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5833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风险触发预警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人工复核异常单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7429500" y="5181600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4769"/>
          </a:bodyPr>
          <a:lstStyle/>
          <a:p>
            <a:pPr algn="ctr">
              <a:buNone/>
              <a:defRPr b="1">
                <a:solidFill>
                  <a:srgbClr val="A7D7EB"/>
                </a:solidFill>
              </a:defRPr>
            </a:pPr>
            <a:r>
              <a:rPr b="1">
                <a:solidFill>
                  <a:srgbClr val="A7D7EB"/>
                </a:solidFill>
              </a:rPr>
              <a:t>→</a:t>
            </a:r>
            <a:endParaRPr b="1">
              <a:solidFill>
                <a:srgbClr val="A7D7EB"/>
              </a:solidFill>
            </a:endParaRPr>
          </a:p>
        </p:txBody>
      </p:sp>
      <p:sp>
        <p:nvSpPr>
          <p:cNvPr id="71" name="圆角矩形 70"/>
          <p:cNvSpPr>
            <a:spLocks noGrp="1"/>
          </p:cNvSpPr>
          <p:nvPr/>
        </p:nvSpPr>
        <p:spPr>
          <a:xfrm>
            <a:off x="7905750" y="4924425"/>
            <a:ext cx="29527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8077200" y="5057775"/>
            <a:ext cx="260985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7361"/>
          </a:bodyPr>
          <a:lstStyle/>
          <a:p>
            <a:pPr algn="ctr"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事后规则优化</a:t>
            </a:r>
            <a:endParaRPr b="1">
              <a:solidFill>
                <a:srgbClr val="113B68"/>
              </a:solidFill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8077200" y="5362575"/>
            <a:ext cx="26098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45833"/>
          </a:bodyPr>
          <a:lstStyle/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反馈审核后</a:t>
            </a:r>
            <a:endParaRPr>
              <a:solidFill>
                <a:srgbClr val="617086"/>
              </a:solidFill>
            </a:endParaRPr>
          </a:p>
          <a:p>
            <a:pPr algn="ctr">
              <a:buNone/>
              <a:defRPr>
                <a:solidFill>
                  <a:srgbClr val="617086"/>
                </a:solidFill>
              </a:defRPr>
            </a:pPr>
            <a:r>
              <a:rPr>
                <a:solidFill>
                  <a:srgbClr val="617086"/>
                </a:solidFill>
              </a:rPr>
              <a:t>更新评分规则</a:t>
            </a:r>
            <a:endParaRPr>
              <a:solidFill>
                <a:srgbClr val="617086"/>
              </a:solidFill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11144250" y="6477000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29167"/>
          </a:bodyPr>
          <a:lstStyle/>
          <a:p>
            <a:pPr algn="r">
              <a:buNone/>
              <a:defRPr>
                <a:solidFill>
                  <a:srgbClr val="7A92B5"/>
                </a:solidFill>
              </a:defRPr>
            </a:pPr>
            <a:r>
              <a:rPr>
                <a:solidFill>
                  <a:srgbClr val="7A92B5"/>
                </a:solidFill>
              </a:rPr>
              <a:t>13</a:t>
            </a:r>
            <a:endParaRPr>
              <a:solidFill>
                <a:srgbClr val="7A92B5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C6DD0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  <a:endParaRPr sz="2600"/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1408176" y="457200"/>
            <a:ext cx="10213848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+ 规则引擎双引擎核保</a:t>
            </a:r>
            <a:endParaRPr sz="26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1408176" y="914400"/>
            <a:ext cx="10213848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大模型负责“理解”，规则引擎负责“合规兜底”，缺一不可</a:t>
            </a:r>
            <a:endParaRPr sz="1300"/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66928" y="1554480"/>
            <a:ext cx="35021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86384" y="1773936"/>
            <a:ext cx="201168" cy="457200"/>
          </a:xfrm>
          <a:prstGeom prst="roundRect">
            <a:avLst>
              <a:gd name="adj" fmla="val 18182"/>
            </a:avLst>
          </a:prstGeom>
          <a:solidFill>
            <a:srgbClr val="2E86DE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1115568" y="1773936"/>
            <a:ext cx="277063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强在语义</a:t>
            </a:r>
            <a:endParaRPr sz="15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15568" y="2212848"/>
            <a:ext cx="2724912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读懂病史/申诉等非标准文本，做风险语义理解</a:t>
            </a:r>
            <a:endParaRPr sz="115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4343400" y="1554480"/>
            <a:ext cx="35021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562856" y="1773936"/>
            <a:ext cx="201168" cy="457200"/>
          </a:xfrm>
          <a:prstGeom prst="roundRect">
            <a:avLst>
              <a:gd name="adj" fmla="val 18182"/>
            </a:avLst>
          </a:prstGeom>
          <a:solidFill>
            <a:srgbClr val="E8A33D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892040" y="1773936"/>
            <a:ext cx="277063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规则强在确定性</a:t>
            </a:r>
            <a:endParaRPr sz="150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892040" y="2212848"/>
            <a:ext cx="2724912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加费上限、拒保红线、监管硬条款确定性执行、可复现</a:t>
            </a:r>
            <a:endParaRPr sz="115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119872" y="1554480"/>
            <a:ext cx="35021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339328" y="1773936"/>
            <a:ext cx="201168" cy="457200"/>
          </a:xfrm>
          <a:prstGeom prst="roundRect">
            <a:avLst>
              <a:gd name="adj" fmla="val 18182"/>
            </a:avLst>
          </a:prstGeom>
          <a:solidFill>
            <a:srgbClr val="2E9E5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668512" y="1773936"/>
            <a:ext cx="277063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组合优于单一</a:t>
            </a:r>
            <a:endParaRPr sz="150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668512" y="2212848"/>
            <a:ext cx="2724912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纯模型有幻觉、纯规则太死板，双引擎又聪明又靠谱</a:t>
            </a:r>
            <a:endParaRPr sz="1150"/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566928" y="3429000"/>
            <a:ext cx="11055096" cy="2514600"/>
          </a:xfrm>
          <a:prstGeom prst="roundRect">
            <a:avLst>
              <a:gd name="adj" fmla="val 2909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841248" y="3611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关键技术特色</a:t>
            </a:r>
            <a:endParaRPr sz="1500"/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841248" y="40690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1133856" y="4050792"/>
            <a:ext cx="4796028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规则单一事实来源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集中维护，规则引擎与展示页共用，改一处全局生效</a:t>
            </a:r>
            <a:endParaRPr sz="13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6094476" y="40690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3" name="Text 21"/>
          <p:cNvSpPr>
            <a:spLocks noGrp="1"/>
          </p:cNvSpPr>
          <p:nvPr/>
        </p:nvSpPr>
        <p:spPr>
          <a:xfrm>
            <a:off x="6387084" y="4050792"/>
            <a:ext cx="4796028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直接拒保红线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近6月拒保 / 酒精成瘾 / 重度疾病命中即拒保，硬规则不交给模型</a:t>
            </a:r>
            <a:endParaRPr sz="130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841248" y="49834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1133856" y="4965192"/>
            <a:ext cx="4796028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LLM 优雅降级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大模型不可达或失败时自动回退规则拆解，核保流程零中断</a:t>
            </a:r>
            <a:endParaRPr sz="13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094476" y="49834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6387084" y="4965192"/>
            <a:ext cx="4796028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规则命中可追溯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每笔评分记录命中维度与分值，写入审计轨迹（</a:t>
            </a: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联动创新点③</a:t>
            </a: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）</a:t>
            </a:r>
            <a:endParaRPr sz="1300"/>
          </a:p>
        </p:txBody>
      </p:sp>
      <p:sp>
        <p:nvSpPr>
          <p:cNvPr id="29" name="Text 27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C6DD0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  <a:endParaRPr sz="2600"/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1408176" y="457200"/>
            <a:ext cx="10213848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可解释核保 · AI 决策审计轨迹</a:t>
            </a:r>
            <a:endParaRPr sz="26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1408176" y="914400"/>
            <a:ext cx="10213848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每一步 AI 决策都有 输入 / 输出 / 规则来源 / 置信度</a:t>
            </a:r>
            <a:endParaRPr sz="1300"/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66928" y="1554480"/>
            <a:ext cx="6400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822960" y="1737360"/>
            <a:ext cx="59436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审计轨迹示例（单条决策）</a:t>
            </a:r>
            <a:endParaRPr sz="1500"/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886968" y="2221992"/>
            <a:ext cx="219456" cy="219456"/>
          </a:xfrm>
          <a:prstGeom prst="ellipse">
            <a:avLst/>
          </a:prstGeom>
          <a:solidFill>
            <a:srgbClr val="2E9E5B"/>
          </a:solidFill>
        </p:spPr>
      </p:sp>
      <p:sp>
        <p:nvSpPr>
          <p:cNvPr id="9" name="Shape 7"/>
          <p:cNvSpPr>
            <a:spLocks noGrp="1"/>
          </p:cNvSpPr>
          <p:nvPr/>
        </p:nvSpPr>
        <p:spPr>
          <a:xfrm>
            <a:off x="996696" y="2441448"/>
            <a:ext cx="0" cy="493776"/>
          </a:xfrm>
          <a:prstGeom prst="line">
            <a:avLst/>
          </a:prstGeom>
          <a:noFill/>
          <a:ln w="19050">
            <a:solidFill>
              <a:srgbClr val="DCE6F2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1252728" y="2130552"/>
            <a:ext cx="5486400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AI 自动核保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规则引擎 + LLM 双引擎 → 结论 / 等级 / 加费</a:t>
            </a:r>
            <a:endParaRPr sz="130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886968" y="2935224"/>
            <a:ext cx="219456" cy="219456"/>
          </a:xfrm>
          <a:prstGeom prst="ellipse">
            <a:avLst/>
          </a:prstGeom>
          <a:solidFill>
            <a:srgbClr val="1C6DD0"/>
          </a:solidFill>
        </p:spPr>
      </p:sp>
      <p:sp>
        <p:nvSpPr>
          <p:cNvPr id="12" name="Shape 10"/>
          <p:cNvSpPr>
            <a:spLocks noGrp="1"/>
          </p:cNvSpPr>
          <p:nvPr/>
        </p:nvSpPr>
        <p:spPr>
          <a:xfrm>
            <a:off x="996696" y="3154680"/>
            <a:ext cx="0" cy="493776"/>
          </a:xfrm>
          <a:prstGeom prst="line">
            <a:avLst/>
          </a:prstGeom>
          <a:noFill/>
          <a:ln w="19050">
            <a:solidFill>
              <a:srgbClr val="DCE6F2"/>
            </a:solidFill>
            <a:prstDash val="solid"/>
          </a:ln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1252728" y="2843784"/>
            <a:ext cx="5486400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规则命中记录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命中维度与分值写入 keyFactors（可追溯）</a:t>
            </a:r>
            <a:endParaRPr sz="1300"/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86968" y="3648456"/>
            <a:ext cx="219456" cy="219456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996696" y="3867912"/>
            <a:ext cx="0" cy="493776"/>
          </a:xfrm>
          <a:prstGeom prst="line">
            <a:avLst/>
          </a:prstGeom>
          <a:noFill/>
          <a:ln w="19050">
            <a:solidFill>
              <a:srgbClr val="DCE6F2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1252728" y="3557016"/>
            <a:ext cx="5486400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置信度评估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多维扣分信号 → 置信度分</a:t>
            </a:r>
            <a:endParaRPr sz="1300"/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886968" y="4361688"/>
            <a:ext cx="219456" cy="219456"/>
          </a:xfrm>
          <a:prstGeom prst="ellipse">
            <a:avLst/>
          </a:prstGeom>
          <a:solidFill>
            <a:srgbClr val="E07B4A"/>
          </a:solidFill>
        </p:spPr>
      </p:sp>
      <p:sp>
        <p:nvSpPr>
          <p:cNvPr id="18" name="Shape 16"/>
          <p:cNvSpPr>
            <a:spLocks noGrp="1"/>
          </p:cNvSpPr>
          <p:nvPr/>
        </p:nvSpPr>
        <p:spPr>
          <a:xfrm>
            <a:off x="996696" y="4581144"/>
            <a:ext cx="0" cy="493776"/>
          </a:xfrm>
          <a:prstGeom prst="line">
            <a:avLst/>
          </a:prstGeom>
          <a:noFill/>
          <a:ln w="19050">
            <a:solidFill>
              <a:srgbClr val="DCE6F2"/>
            </a:solidFill>
            <a:prstDash val="solid"/>
          </a:ln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1252728" y="4270248"/>
            <a:ext cx="5486400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人工修整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覆写值 vs AI 值对比 + 必填原因</a:t>
            </a:r>
            <a:endParaRPr sz="1300"/>
          </a:p>
        </p:txBody>
      </p:sp>
      <p:sp>
        <p:nvSpPr>
          <p:cNvPr id="20" name="Shape 18"/>
          <p:cNvSpPr>
            <a:spLocks noGrp="1"/>
          </p:cNvSpPr>
          <p:nvPr/>
        </p:nvSpPr>
        <p:spPr>
          <a:xfrm>
            <a:off x="886968" y="5074920"/>
            <a:ext cx="219456" cy="219456"/>
          </a:xfrm>
          <a:prstGeom prst="ellipse">
            <a:avLst/>
          </a:prstGeom>
          <a:solidFill>
            <a:srgbClr val="2E86DE"/>
          </a:solidFill>
        </p:spPr>
      </p:sp>
      <p:sp>
        <p:nvSpPr>
          <p:cNvPr id="21" name="Text 19"/>
          <p:cNvSpPr>
            <a:spLocks noGrp="1"/>
          </p:cNvSpPr>
          <p:nvPr/>
        </p:nvSpPr>
        <p:spPr>
          <a:xfrm>
            <a:off x="1252728" y="4983480"/>
            <a:ext cx="5486400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zh-CN"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主管</a:t>
            </a: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审批
</a:t>
            </a:r>
            <a:endParaRPr sz="1300"/>
          </a:p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审批结论 · 通过生效 / 驳回回退</a:t>
            </a:r>
            <a:endParaRPr sz="1300"/>
          </a:p>
        </p:txBody>
      </p:sp>
      <p:sp>
        <p:nvSpPr>
          <p:cNvPr id="22" name="Shape 20"/>
          <p:cNvSpPr>
            <a:spLocks noGrp="1"/>
          </p:cNvSpPr>
          <p:nvPr/>
        </p:nvSpPr>
        <p:spPr>
          <a:xfrm>
            <a:off x="7287768" y="1554480"/>
            <a:ext cx="4334256" cy="4297680"/>
          </a:xfrm>
          <a:prstGeom prst="roundRect">
            <a:avLst>
              <a:gd name="adj" fmla="val 1702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3" name="Text 21"/>
          <p:cNvSpPr>
            <a:spLocks noGrp="1"/>
          </p:cNvSpPr>
          <p:nvPr/>
        </p:nvSpPr>
        <p:spPr>
          <a:xfrm>
            <a:off x="7543800" y="1737360"/>
            <a:ext cx="387705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AI 合规与风控价值</a:t>
            </a:r>
            <a:endParaRPr sz="1500"/>
          </a:p>
        </p:txBody>
      </p:sp>
      <p:sp>
        <p:nvSpPr>
          <p:cNvPr id="24" name="Text 22"/>
          <p:cNvSpPr>
            <a:spLocks noGrp="1"/>
          </p:cNvSpPr>
          <p:nvPr/>
        </p:nvSpPr>
        <p:spPr>
          <a:xfrm>
            <a:off x="7543800" y="2212848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7836408" y="2176272"/>
            <a:ext cx="35570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可解释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AI 不是黑箱，每步依据完整透明</a:t>
            </a:r>
            <a:endParaRPr sz="13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7543800" y="290779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7836408" y="2871216"/>
            <a:ext cx="35570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可追溯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最终结论可追到每步输入/输出/规则</a:t>
            </a:r>
            <a:endParaRPr sz="1300"/>
          </a:p>
        </p:txBody>
      </p:sp>
      <p:sp>
        <p:nvSpPr>
          <p:cNvPr id="28" name="Text 26"/>
          <p:cNvSpPr>
            <a:spLocks noGrp="1"/>
          </p:cNvSpPr>
          <p:nvPr/>
        </p:nvSpPr>
        <p:spPr>
          <a:xfrm>
            <a:off x="7543800" y="360273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29" name="Text 27"/>
          <p:cNvSpPr>
            <a:spLocks noGrp="1"/>
          </p:cNvSpPr>
          <p:nvPr/>
        </p:nvSpPr>
        <p:spPr>
          <a:xfrm>
            <a:off x="7836408" y="3566160"/>
            <a:ext cx="35570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可干预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人工可在任意环节介入修正</a:t>
            </a:r>
            <a:endParaRPr sz="1300"/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7543800" y="42976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7836408" y="4261104"/>
            <a:ext cx="35570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兜底机制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LLM 失败自动回退规则，不中断</a:t>
            </a:r>
            <a:endParaRPr sz="1300"/>
          </a:p>
        </p:txBody>
      </p:sp>
      <p:sp>
        <p:nvSpPr>
          <p:cNvPr id="32" name="Text 30"/>
          <p:cNvSpPr>
            <a:spLocks noGrp="1"/>
          </p:cNvSpPr>
          <p:nvPr/>
        </p:nvSpPr>
        <p:spPr>
          <a:xfrm>
            <a:off x="7543800" y="499262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E9E5B"/>
                </a:solidFill>
                <a:latin typeface="微软雅黑"/>
                <a:ea typeface="微软雅黑"/>
                <a:cs typeface="微软雅黑"/>
              </a:rPr>
              <a:t>✓</a:t>
            </a:r>
            <a:endParaRPr sz="1400"/>
          </a:p>
        </p:txBody>
      </p:sp>
      <p:sp>
        <p:nvSpPr>
          <p:cNvPr id="33" name="Text 31"/>
          <p:cNvSpPr>
            <a:spLocks noGrp="1"/>
          </p:cNvSpPr>
          <p:nvPr/>
        </p:nvSpPr>
        <p:spPr>
          <a:xfrm>
            <a:off x="7836408" y="4956048"/>
            <a:ext cx="35570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风控预警
</a:t>
            </a:r>
            <a:endParaRPr sz="1300"/>
          </a:p>
          <a:p>
            <a:pPr marL="0" indent="0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低置信自动标记，避免错误结论生效</a:t>
            </a:r>
            <a:endParaRPr sz="1300"/>
          </a:p>
        </p:txBody>
      </p:sp>
      <p:sp>
        <p:nvSpPr>
          <p:cNvPr id="35" name="Text 33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C6DD0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66928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  <a:endParaRPr sz="2600"/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1408176" y="457200"/>
            <a:ext cx="10213848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反馈驱动的规则优化闭环</a:t>
            </a:r>
            <a:endParaRPr sz="26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1408176" y="914400"/>
            <a:ext cx="10213848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误判申诉 / 规则优化 → 规则建议 → 人工确认 → 反哺知识库</a:t>
            </a:r>
            <a:endParaRPr sz="1300"/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66928" y="1600200"/>
            <a:ext cx="252374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1517904" y="1856232"/>
            <a:ext cx="621792" cy="621792"/>
          </a:xfrm>
          <a:prstGeom prst="ellipse">
            <a:avLst/>
          </a:prstGeom>
          <a:solidFill>
            <a:srgbClr val="2E86DE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1517904" y="1856232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2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658368" y="2560320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误判申诉 / 规则优化</a:t>
            </a:r>
            <a:endParaRPr sz="13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292608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提交反馈，关联核保决策</a:t>
            </a:r>
            <a:endParaRPr sz="1050"/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3108960" y="22402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3410712" y="1600200"/>
            <a:ext cx="252374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3" name="Shape 11"/>
          <p:cNvSpPr>
            <a:spLocks noGrp="1"/>
          </p:cNvSpPr>
          <p:nvPr/>
        </p:nvSpPr>
        <p:spPr>
          <a:xfrm>
            <a:off x="4361688" y="1856232"/>
            <a:ext cx="621792" cy="621792"/>
          </a:xfrm>
          <a:prstGeom prst="ellipse">
            <a:avLst/>
          </a:prstGeom>
          <a:solidFill>
            <a:srgbClr val="E8A33D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4361688" y="1856232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2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3502152" y="2560320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一键转规则建议</a:t>
            </a:r>
            <a:endParaRPr sz="1300"/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3538728" y="292608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沉淀为规则优化建议（待确认）</a:t>
            </a:r>
            <a:endParaRPr sz="105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5952744" y="22402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6254496" y="1600200"/>
            <a:ext cx="252374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19" name="Shape 17"/>
          <p:cNvSpPr>
            <a:spLocks noGrp="1"/>
          </p:cNvSpPr>
          <p:nvPr/>
        </p:nvSpPr>
        <p:spPr>
          <a:xfrm>
            <a:off x="7205472" y="1856232"/>
            <a:ext cx="621792" cy="621792"/>
          </a:xfrm>
          <a:prstGeom prst="ellipse">
            <a:avLst/>
          </a:prstGeom>
          <a:solidFill>
            <a:srgbClr val="2E9E5B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7205472" y="1856232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2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6345936" y="2560320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人工确认闸口</a:t>
            </a:r>
            <a:endParaRPr sz="13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6382512" y="292608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内部质检 / 管理员 采纳或驳回</a:t>
            </a:r>
            <a:endParaRPr sz="1050"/>
          </a:p>
        </p:txBody>
      </p:sp>
      <p:sp>
        <p:nvSpPr>
          <p:cNvPr id="23" name="Text 21"/>
          <p:cNvSpPr>
            <a:spLocks noGrp="1"/>
          </p:cNvSpPr>
          <p:nvPr/>
        </p:nvSpPr>
        <p:spPr>
          <a:xfrm>
            <a:off x="8796528" y="22402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200"/>
          </a:p>
        </p:txBody>
      </p:sp>
      <p:sp>
        <p:nvSpPr>
          <p:cNvPr id="24" name="Shape 22"/>
          <p:cNvSpPr>
            <a:spLocks noGrp="1"/>
          </p:cNvSpPr>
          <p:nvPr/>
        </p:nvSpPr>
        <p:spPr>
          <a:xfrm>
            <a:off x="9098280" y="1600200"/>
            <a:ext cx="252374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25" name="Shape 23"/>
          <p:cNvSpPr>
            <a:spLocks noGrp="1"/>
          </p:cNvSpPr>
          <p:nvPr/>
        </p:nvSpPr>
        <p:spPr>
          <a:xfrm>
            <a:off x="10049256" y="1856232"/>
            <a:ext cx="621792" cy="621792"/>
          </a:xfrm>
          <a:prstGeom prst="ellipse">
            <a:avLst/>
          </a:prstGeom>
          <a:solidFill>
            <a:srgbClr val="1C6DD0"/>
          </a:solidFill>
        </p:spPr>
      </p:sp>
      <p:sp>
        <p:nvSpPr>
          <p:cNvPr id="26" name="Text 24"/>
          <p:cNvSpPr>
            <a:spLocks noGrp="1"/>
          </p:cNvSpPr>
          <p:nvPr/>
        </p:nvSpPr>
        <p:spPr>
          <a:xfrm>
            <a:off x="10049256" y="1856232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2200"/>
          </a:p>
        </p:txBody>
      </p:sp>
      <p:sp>
        <p:nvSpPr>
          <p:cNvPr id="27" name="Text 25"/>
          <p:cNvSpPr>
            <a:spLocks noGrp="1"/>
          </p:cNvSpPr>
          <p:nvPr/>
        </p:nvSpPr>
        <p:spPr>
          <a:xfrm>
            <a:off x="9189720" y="2560320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反哺规则知识库</a:t>
            </a:r>
            <a:endParaRPr sz="1300"/>
          </a:p>
        </p:txBody>
      </p:sp>
      <p:sp>
        <p:nvSpPr>
          <p:cNvPr id="28" name="Text 26"/>
          <p:cNvSpPr>
            <a:spLocks noGrp="1"/>
          </p:cNvSpPr>
          <p:nvPr/>
        </p:nvSpPr>
        <p:spPr>
          <a:xfrm>
            <a:off x="9226296" y="292608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05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采纳项优化规则，越用越准</a:t>
            </a:r>
            <a:endParaRPr sz="1050"/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566928" y="3657600"/>
            <a:ext cx="5760720" cy="1691640"/>
          </a:xfrm>
          <a:prstGeom prst="roundRect">
            <a:avLst>
              <a:gd name="adj" fmla="val 4324"/>
            </a:avLst>
          </a:prstGeom>
          <a:solidFill>
            <a:srgbClr val="F4F8FD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30" name="Text 28"/>
          <p:cNvSpPr>
            <a:spLocks noGrp="1"/>
          </p:cNvSpPr>
          <p:nvPr/>
        </p:nvSpPr>
        <p:spPr>
          <a:xfrm>
            <a:off x="822960" y="3822192"/>
            <a:ext cx="53035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人工闸口设计</a:t>
            </a:r>
            <a:endParaRPr sz="1400"/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822960" y="4206240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4A5561"/>
                </a:solidFill>
                <a:latin typeface="微软雅黑"/>
                <a:ea typeface="微软雅黑"/>
                <a:cs typeface="微软雅黑"/>
              </a:rPr>
              <a:t>建议态需人工确认才生效，不自动改写线上规则 —— 保险场景规则变更必须留人工闸口，与审计留痕一致。含采纳率等闭环成效统计。</a:t>
            </a:r>
            <a:endParaRPr sz="1150"/>
          </a:p>
        </p:txBody>
      </p:sp>
      <p:sp>
        <p:nvSpPr>
          <p:cNvPr id="32" name="Shape 30"/>
          <p:cNvSpPr>
            <a:spLocks noGrp="1"/>
          </p:cNvSpPr>
          <p:nvPr/>
        </p:nvSpPr>
        <p:spPr>
          <a:xfrm>
            <a:off x="6601968" y="3657600"/>
            <a:ext cx="5020056" cy="1691640"/>
          </a:xfrm>
          <a:prstGeom prst="roundRect">
            <a:avLst>
              <a:gd name="adj" fmla="val 4324"/>
            </a:avLst>
          </a:prstGeom>
          <a:solidFill>
            <a:srgbClr val="13315C"/>
          </a:solidFill>
        </p:spPr>
      </p:sp>
      <p:sp>
        <p:nvSpPr>
          <p:cNvPr id="33" name="Text 31"/>
          <p:cNvSpPr>
            <a:spLocks noGrp="1"/>
          </p:cNvSpPr>
          <p:nvPr/>
        </p:nvSpPr>
        <p:spPr>
          <a:xfrm>
            <a:off x="6858000" y="3822192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后期版本规划</a:t>
            </a:r>
            <a:endParaRPr sz="1400"/>
          </a:p>
        </p:txBody>
      </p:sp>
      <p:sp>
        <p:nvSpPr>
          <p:cNvPr id="34" name="Text 32"/>
          <p:cNvSpPr>
            <a:spLocks noGrp="1"/>
          </p:cNvSpPr>
          <p:nvPr/>
        </p:nvSpPr>
        <p:spPr>
          <a:xfrm>
            <a:off x="6858000" y="4206240"/>
            <a:ext cx="4581144" cy="1051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规则自学习：从采纳建议自动生成规则草案</a:t>
            </a:r>
            <a:endParaRPr sz="110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多模态核保：</a:t>
            </a:r>
            <a:r>
              <a:rPr lang="en-US" altLang="zh-CN"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OCR </a:t>
            </a:r>
            <a:r>
              <a:rPr lang="zh-CN" altLang="en-US"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提取病历、体检报告等本次投保材料，并结合历史画像辅助风险评估</a:t>
            </a:r>
            <a:endParaRPr lang="zh-CN" altLang="en-US" sz="1100">
              <a:solidFill>
                <a:srgbClr val="CADCFC"/>
              </a:solidFill>
              <a:latin typeface="微软雅黑"/>
              <a:ea typeface="微软雅黑"/>
              <a:cs typeface="微软雅黑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1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向量知识库：检索既往相似核保案例</a:t>
            </a:r>
            <a:endParaRPr sz="1100"/>
          </a:p>
        </p:txBody>
      </p:sp>
      <p:sp>
        <p:nvSpPr>
          <p:cNvPr id="36" name="Text 34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326880" y="-914400"/>
            <a:ext cx="4206240" cy="4206240"/>
          </a:xfrm>
          <a:prstGeom prst="ellipse">
            <a:avLst/>
          </a:prstGeom>
          <a:solidFill>
            <a:srgbClr val="1C6DD0">
              <a:alpha val="26000"/>
            </a:srgbClr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274320" y="2011680"/>
            <a:ext cx="5943600" cy="2926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0" b="1">
                <a:solidFill>
                  <a:srgbClr val="20406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20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394960" y="2788920"/>
            <a:ext cx="256032" cy="1097280"/>
          </a:xfrm>
          <a:prstGeom prst="roundRect">
            <a:avLst>
              <a:gd name="adj" fmla="val 21429"/>
            </a:avLst>
          </a:prstGeom>
          <a:solidFill>
            <a:srgbClr val="E8A33D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806440" y="278892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业务价值与投产比分析</a:t>
            </a:r>
            <a:endParaRPr sz="4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852160" y="361188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spc="200">
                <a:solidFill>
                  <a:srgbClr val="9FC0EE"/>
                </a:solidFill>
                <a:latin typeface="微软雅黑"/>
                <a:ea typeface="微软雅黑"/>
                <a:cs typeface="微软雅黑"/>
              </a:rPr>
              <a:t>BUSINESS VALUE &amp; ROI</a:t>
            </a:r>
            <a:endParaRPr sz="14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效能对比：显著的降本增效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数据为基于系统能力的测算，具体数值请结合实际业务量校准。【待核实】</a:t>
            </a:r>
            <a:endParaRPr sz="12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210312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25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3172968" y="21031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改进前（人工）</a:t>
            </a:r>
            <a:endParaRPr sz="125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6693408" y="21031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改进后（AI 系统）</a:t>
            </a:r>
            <a:endParaRPr sz="125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10213848" y="2103120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提升</a:t>
            </a:r>
            <a:endParaRPr sz="125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566928" y="2560320"/>
            <a:ext cx="2468880" cy="603504"/>
          </a:xfrm>
          <a:prstGeom prst="roundRect">
            <a:avLst>
              <a:gd name="adj" fmla="val 9091"/>
            </a:avLst>
          </a:prstGeom>
          <a:solidFill>
            <a:srgbClr val="13315C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566928" y="2560320"/>
            <a:ext cx="24688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单件核保时长</a:t>
            </a:r>
            <a:endParaRPr sz="125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3172968" y="2560320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F3F1EF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3264408" y="2560320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人工 0.5–1 小时</a:t>
            </a:r>
            <a:endParaRPr sz="1200"/>
          </a:p>
        </p:txBody>
      </p:sp>
      <p:sp>
        <p:nvSpPr>
          <p:cNvPr id="15" name="Shape 13"/>
          <p:cNvSpPr>
            <a:spLocks noGrp="1"/>
          </p:cNvSpPr>
          <p:nvPr/>
        </p:nvSpPr>
        <p:spPr>
          <a:xfrm>
            <a:off x="6693408" y="2560320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EAF1F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6784848" y="2560320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AI 秒级出结论</a:t>
            </a:r>
            <a:endParaRPr sz="1200"/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10213848" y="2560320"/>
            <a:ext cx="1408176" cy="603504"/>
          </a:xfrm>
          <a:prstGeom prst="roundRect">
            <a:avLst>
              <a:gd name="adj" fmla="val 9091"/>
            </a:avLst>
          </a:prstGeom>
          <a:solidFill>
            <a:srgbClr val="1C6DD0"/>
          </a:solidFill>
        </p:spPr>
      </p:sp>
      <p:sp>
        <p:nvSpPr>
          <p:cNvPr id="18" name="Text 16"/>
          <p:cNvSpPr>
            <a:spLocks noGrp="1"/>
          </p:cNvSpPr>
          <p:nvPr/>
        </p:nvSpPr>
        <p:spPr>
          <a:xfrm>
            <a:off x="10213848" y="2560320"/>
            <a:ext cx="1408176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耗时缩短 98.3%–99.2%</a:t>
            </a:r>
            <a:endParaRPr sz="115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66928" y="3273552"/>
            <a:ext cx="2468880" cy="603504"/>
          </a:xfrm>
          <a:prstGeom prst="roundRect">
            <a:avLst>
              <a:gd name="adj" fmla="val 9091"/>
            </a:avLst>
          </a:prstGeom>
          <a:solidFill>
            <a:srgbClr val="13315C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566928" y="3273552"/>
            <a:ext cx="24688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模型准确率</a:t>
            </a:r>
            <a:endParaRPr sz="1250"/>
          </a:p>
        </p:txBody>
      </p:sp>
      <p:sp>
        <p:nvSpPr>
          <p:cNvPr id="21" name="Shape 19"/>
          <p:cNvSpPr>
            <a:spLocks noGrp="1"/>
          </p:cNvSpPr>
          <p:nvPr/>
        </p:nvSpPr>
        <p:spPr>
          <a:xfrm>
            <a:off x="3172968" y="3273552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F3F1EF"/>
          </a:solidFill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3264408" y="3273552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依赖个人经验，口径不一</a:t>
            </a:r>
            <a:endParaRPr sz="1200"/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6693408" y="3273552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EAF1FB"/>
          </a:solidFill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6784848" y="3273552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规则引擎统一口径</a:t>
            </a:r>
            <a:endParaRPr sz="1200"/>
          </a:p>
        </p:txBody>
      </p:sp>
      <p:sp>
        <p:nvSpPr>
          <p:cNvPr id="25" name="Shape 23"/>
          <p:cNvSpPr>
            <a:spLocks noGrp="1"/>
          </p:cNvSpPr>
          <p:nvPr/>
        </p:nvSpPr>
        <p:spPr>
          <a:xfrm>
            <a:off x="10213848" y="3273552"/>
            <a:ext cx="1408176" cy="603504"/>
          </a:xfrm>
          <a:prstGeom prst="roundRect">
            <a:avLst>
              <a:gd name="adj" fmla="val 9091"/>
            </a:avLst>
          </a:prstGeom>
          <a:solidFill>
            <a:srgbClr val="2E86DE"/>
          </a:solidFill>
        </p:spPr>
      </p:sp>
      <p:sp>
        <p:nvSpPr>
          <p:cNvPr id="26" name="Text 24"/>
          <p:cNvSpPr>
            <a:spLocks noGrp="1"/>
          </p:cNvSpPr>
          <p:nvPr/>
        </p:nvSpPr>
        <p:spPr>
          <a:xfrm>
            <a:off x="10213848" y="3273552"/>
            <a:ext cx="1408176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准确率 8</a:t>
            </a:r>
            <a:r>
              <a:rPr 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%→95%</a:t>
            </a:r>
            <a:endParaRPr sz="1150"/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566928" y="3986784"/>
            <a:ext cx="2468880" cy="603504"/>
          </a:xfrm>
          <a:prstGeom prst="roundRect">
            <a:avLst>
              <a:gd name="adj" fmla="val 9091"/>
            </a:avLst>
          </a:prstGeom>
          <a:solidFill>
            <a:srgbClr val="13315C"/>
          </a:solidFill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566928" y="3986784"/>
            <a:ext cx="24688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风险漏判 / 误判</a:t>
            </a:r>
            <a:endParaRPr sz="1250"/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3172968" y="3986784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F3F1EF"/>
          </a:solidFill>
        </p:spPr>
      </p:sp>
      <p:sp>
        <p:nvSpPr>
          <p:cNvPr id="30" name="Text 28"/>
          <p:cNvSpPr>
            <a:spLocks noGrp="1"/>
          </p:cNvSpPr>
          <p:nvPr/>
        </p:nvSpPr>
        <p:spPr>
          <a:xfrm>
            <a:off x="3264408" y="3986784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疲劳与主观致漏判</a:t>
            </a:r>
            <a:endParaRPr sz="1200"/>
          </a:p>
        </p:txBody>
      </p:sp>
      <p:sp>
        <p:nvSpPr>
          <p:cNvPr id="31" name="Shape 29"/>
          <p:cNvSpPr>
            <a:spLocks noGrp="1"/>
          </p:cNvSpPr>
          <p:nvPr/>
        </p:nvSpPr>
        <p:spPr>
          <a:xfrm>
            <a:off x="6693408" y="3986784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EAF1FB"/>
          </a:solidFill>
        </p:spPr>
      </p:sp>
      <p:sp>
        <p:nvSpPr>
          <p:cNvPr id="32" name="Text 30"/>
          <p:cNvSpPr>
            <a:spLocks noGrp="1"/>
          </p:cNvSpPr>
          <p:nvPr/>
        </p:nvSpPr>
        <p:spPr>
          <a:xfrm>
            <a:off x="6784848" y="3986784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规则+AI语义双引擎把关</a:t>
            </a:r>
            <a:endParaRPr sz="1200"/>
          </a:p>
        </p:txBody>
      </p:sp>
      <p:sp>
        <p:nvSpPr>
          <p:cNvPr id="33" name="Shape 31"/>
          <p:cNvSpPr>
            <a:spLocks noGrp="1"/>
          </p:cNvSpPr>
          <p:nvPr/>
        </p:nvSpPr>
        <p:spPr>
          <a:xfrm>
            <a:off x="10213848" y="3986784"/>
            <a:ext cx="1408176" cy="603504"/>
          </a:xfrm>
          <a:prstGeom prst="roundRect">
            <a:avLst>
              <a:gd name="adj" fmla="val 9091"/>
            </a:avLst>
          </a:prstGeom>
          <a:solidFill>
            <a:srgbClr val="E8A33D"/>
          </a:solidFill>
        </p:spPr>
      </p:sp>
      <p:sp>
        <p:nvSpPr>
          <p:cNvPr id="34" name="Text 32"/>
          <p:cNvSpPr>
            <a:spLocks noGrp="1"/>
          </p:cNvSpPr>
          <p:nvPr/>
        </p:nvSpPr>
        <p:spPr>
          <a:xfrm>
            <a:off x="10213848" y="3986784"/>
            <a:ext cx="1408176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质量提升</a:t>
            </a:r>
            <a:endParaRPr sz="1150"/>
          </a:p>
        </p:txBody>
      </p:sp>
      <p:sp>
        <p:nvSpPr>
          <p:cNvPr id="35" name="Shape 33"/>
          <p:cNvSpPr>
            <a:spLocks noGrp="1"/>
          </p:cNvSpPr>
          <p:nvPr/>
        </p:nvSpPr>
        <p:spPr>
          <a:xfrm>
            <a:off x="566928" y="4700016"/>
            <a:ext cx="2468880" cy="603504"/>
          </a:xfrm>
          <a:prstGeom prst="roundRect">
            <a:avLst>
              <a:gd name="adj" fmla="val 9091"/>
            </a:avLst>
          </a:prstGeom>
          <a:solidFill>
            <a:srgbClr val="13315C"/>
          </a:solidFill>
        </p:spPr>
      </p:sp>
      <p:sp>
        <p:nvSpPr>
          <p:cNvPr id="36" name="Text 34"/>
          <p:cNvSpPr>
            <a:spLocks noGrp="1"/>
          </p:cNvSpPr>
          <p:nvPr/>
        </p:nvSpPr>
        <p:spPr>
          <a:xfrm>
            <a:off x="566928" y="4700016"/>
            <a:ext cx="24688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合规留痕</a:t>
            </a:r>
            <a:endParaRPr sz="1250"/>
          </a:p>
        </p:txBody>
      </p:sp>
      <p:sp>
        <p:nvSpPr>
          <p:cNvPr id="37" name="Shape 35"/>
          <p:cNvSpPr>
            <a:spLocks noGrp="1"/>
          </p:cNvSpPr>
          <p:nvPr/>
        </p:nvSpPr>
        <p:spPr>
          <a:xfrm>
            <a:off x="3172968" y="4700016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F3F1EF"/>
          </a:solidFill>
        </p:spPr>
      </p:sp>
      <p:sp>
        <p:nvSpPr>
          <p:cNvPr id="38" name="Text 36"/>
          <p:cNvSpPr>
            <a:spLocks noGrp="1"/>
          </p:cNvSpPr>
          <p:nvPr/>
        </p:nvSpPr>
        <p:spPr>
          <a:xfrm>
            <a:off x="3264408" y="4700016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依据难以完整追溯</a:t>
            </a:r>
            <a:endParaRPr sz="1200"/>
          </a:p>
        </p:txBody>
      </p:sp>
      <p:sp>
        <p:nvSpPr>
          <p:cNvPr id="39" name="Shape 37"/>
          <p:cNvSpPr>
            <a:spLocks noGrp="1"/>
          </p:cNvSpPr>
          <p:nvPr/>
        </p:nvSpPr>
        <p:spPr>
          <a:xfrm>
            <a:off x="6693408" y="4700016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EAF1FB"/>
          </a:solidFill>
        </p:spPr>
      </p:sp>
      <p:sp>
        <p:nvSpPr>
          <p:cNvPr id="40" name="Text 38"/>
          <p:cNvSpPr>
            <a:spLocks noGrp="1"/>
          </p:cNvSpPr>
          <p:nvPr/>
        </p:nvSpPr>
        <p:spPr>
          <a:xfrm>
            <a:off x="6784848" y="4700016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全链审计轨迹可追溯</a:t>
            </a:r>
            <a:endParaRPr sz="1200"/>
          </a:p>
        </p:txBody>
      </p:sp>
      <p:sp>
        <p:nvSpPr>
          <p:cNvPr id="41" name="Shape 39"/>
          <p:cNvSpPr>
            <a:spLocks noGrp="1"/>
          </p:cNvSpPr>
          <p:nvPr/>
        </p:nvSpPr>
        <p:spPr>
          <a:xfrm>
            <a:off x="10213848" y="4700016"/>
            <a:ext cx="1408176" cy="603504"/>
          </a:xfrm>
          <a:prstGeom prst="roundRect">
            <a:avLst>
              <a:gd name="adj" fmla="val 9091"/>
            </a:avLst>
          </a:prstGeom>
          <a:solidFill>
            <a:srgbClr val="2E9E5B"/>
          </a:solidFill>
        </p:spPr>
      </p:sp>
      <p:sp>
        <p:nvSpPr>
          <p:cNvPr id="42" name="Text 40"/>
          <p:cNvSpPr>
            <a:spLocks noGrp="1"/>
          </p:cNvSpPr>
          <p:nvPr/>
        </p:nvSpPr>
        <p:spPr>
          <a:xfrm>
            <a:off x="10213848" y="4700016"/>
            <a:ext cx="1408176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监管友好</a:t>
            </a:r>
            <a:endParaRPr sz="1150"/>
          </a:p>
        </p:txBody>
      </p:sp>
      <p:sp>
        <p:nvSpPr>
          <p:cNvPr id="43" name="Shape 41"/>
          <p:cNvSpPr>
            <a:spLocks noGrp="1"/>
          </p:cNvSpPr>
          <p:nvPr/>
        </p:nvSpPr>
        <p:spPr>
          <a:xfrm>
            <a:off x="566928" y="5413248"/>
            <a:ext cx="2468880" cy="603504"/>
          </a:xfrm>
          <a:prstGeom prst="roundRect">
            <a:avLst>
              <a:gd name="adj" fmla="val 9091"/>
            </a:avLst>
          </a:prstGeom>
          <a:solidFill>
            <a:srgbClr val="13315C"/>
          </a:solidFill>
        </p:spPr>
      </p:sp>
      <p:sp>
        <p:nvSpPr>
          <p:cNvPr id="44" name="Text 42"/>
          <p:cNvSpPr>
            <a:spLocks noGrp="1"/>
          </p:cNvSpPr>
          <p:nvPr/>
        </p:nvSpPr>
        <p:spPr>
          <a:xfrm>
            <a:off x="566928" y="5413248"/>
            <a:ext cx="24688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决策时效</a:t>
            </a:r>
            <a:endParaRPr sz="1250"/>
          </a:p>
        </p:txBody>
      </p:sp>
      <p:sp>
        <p:nvSpPr>
          <p:cNvPr id="45" name="Shape 43"/>
          <p:cNvSpPr>
            <a:spLocks noGrp="1"/>
          </p:cNvSpPr>
          <p:nvPr/>
        </p:nvSpPr>
        <p:spPr>
          <a:xfrm>
            <a:off x="3172968" y="5413248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F3F1EF"/>
          </a:solidFill>
        </p:spPr>
      </p:sp>
      <p:sp>
        <p:nvSpPr>
          <p:cNvPr id="46" name="Text 44"/>
          <p:cNvSpPr>
            <a:spLocks noGrp="1"/>
          </p:cNvSpPr>
          <p:nvPr/>
        </p:nvSpPr>
        <p:spPr>
          <a:xfrm>
            <a:off x="3264408" y="5413248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6B6B6B"/>
                </a:solidFill>
                <a:latin typeface="微软雅黑"/>
                <a:ea typeface="微软雅黑"/>
                <a:cs typeface="微软雅黑"/>
              </a:rPr>
              <a:t>数据滞后，事后回溯</a:t>
            </a:r>
            <a:endParaRPr sz="1200"/>
          </a:p>
        </p:txBody>
      </p:sp>
      <p:sp>
        <p:nvSpPr>
          <p:cNvPr id="47" name="Shape 45"/>
          <p:cNvSpPr>
            <a:spLocks noGrp="1"/>
          </p:cNvSpPr>
          <p:nvPr/>
        </p:nvSpPr>
        <p:spPr>
          <a:xfrm>
            <a:off x="6693408" y="5413248"/>
            <a:ext cx="3383280" cy="603504"/>
          </a:xfrm>
          <a:prstGeom prst="roundRect">
            <a:avLst>
              <a:gd name="adj" fmla="val 9091"/>
            </a:avLst>
          </a:prstGeom>
          <a:solidFill>
            <a:srgbClr val="EAF1FB"/>
          </a:solidFill>
        </p:spPr>
      </p:sp>
      <p:sp>
        <p:nvSpPr>
          <p:cNvPr id="48" name="Text 46"/>
          <p:cNvSpPr>
            <a:spLocks noGrp="1"/>
          </p:cNvSpPr>
          <p:nvPr/>
        </p:nvSpPr>
        <p:spPr>
          <a:xfrm>
            <a:off x="6784848" y="5413248"/>
            <a:ext cx="3200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实时数据看板</a:t>
            </a:r>
            <a:endParaRPr sz="1200"/>
          </a:p>
        </p:txBody>
      </p:sp>
      <p:sp>
        <p:nvSpPr>
          <p:cNvPr id="49" name="Shape 47"/>
          <p:cNvSpPr>
            <a:spLocks noGrp="1"/>
          </p:cNvSpPr>
          <p:nvPr/>
        </p:nvSpPr>
        <p:spPr>
          <a:xfrm>
            <a:off x="10213848" y="5413248"/>
            <a:ext cx="1408176" cy="603504"/>
          </a:xfrm>
          <a:prstGeom prst="roundRect">
            <a:avLst>
              <a:gd name="adj" fmla="val 9091"/>
            </a:avLst>
          </a:prstGeom>
          <a:solidFill>
            <a:srgbClr val="4C8FBE"/>
          </a:solidFill>
        </p:spPr>
      </p:sp>
      <p:sp>
        <p:nvSpPr>
          <p:cNvPr id="50" name="Text 48"/>
          <p:cNvSpPr>
            <a:spLocks noGrp="1"/>
          </p:cNvSpPr>
          <p:nvPr/>
        </p:nvSpPr>
        <p:spPr>
          <a:xfrm>
            <a:off x="10213848" y="5413248"/>
            <a:ext cx="1408176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 T+0</a:t>
            </a:r>
            <a:endParaRPr sz="1150"/>
          </a:p>
        </p:txBody>
      </p:sp>
      <p:sp>
        <p:nvSpPr>
          <p:cNvPr id="52" name="Text 50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 / ROI 分析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按竞赛演示场景的人力口径预估：投入与节省将在投产后按运营数据复核。【预估】</a:t>
            </a:r>
            <a:endParaRPr sz="12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66928" y="2148840"/>
            <a:ext cx="58521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822960" y="2331720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投入与产出（月度测算）</a:t>
            </a:r>
            <a:endParaRPr sz="15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841248" y="278892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一次性投入</a:t>
            </a:r>
            <a:endParaRPr sz="1300"/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2852928" y="27889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前端 / 后端 / 测试投入</a:t>
            </a:r>
            <a:endParaRPr sz="1100"/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4956048" y="283464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AF1FB"/>
          </a:solidFill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956048" y="2834640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7.5 人天</a:t>
            </a:r>
            <a:endParaRPr sz="1150"/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841248" y="341071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月度运营</a:t>
            </a:r>
            <a:endParaRPr sz="1300"/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2852928" y="341071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系统维护与模型监控</a:t>
            </a:r>
            <a:endParaRPr sz="1100"/>
          </a:p>
        </p:txBody>
      </p:sp>
      <p:sp>
        <p:nvSpPr>
          <p:cNvPr id="15" name="Shape 13"/>
          <p:cNvSpPr>
            <a:spLocks noGrp="1"/>
          </p:cNvSpPr>
          <p:nvPr/>
        </p:nvSpPr>
        <p:spPr>
          <a:xfrm>
            <a:off x="4956048" y="3456432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AF1FB"/>
          </a:solidFill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4956048" y="3456432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0.5 人天 /月</a:t>
            </a:r>
            <a:endParaRPr sz="1150"/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41248" y="403250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人力节省</a:t>
            </a:r>
            <a:endParaRPr sz="13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2852928" y="4032504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zh-CN"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核保</a:t>
            </a: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工作量减少</a:t>
            </a:r>
            <a:endParaRPr sz="110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4956048" y="4078224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AF1FB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4956048" y="4078224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26</a:t>
            </a: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.5 人天 /月</a:t>
            </a:r>
            <a:endParaRPr sz="115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841248" y="465429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质量收益</a:t>
            </a:r>
            <a:endParaRPr sz="13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2852928" y="465429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规则覆盖与模型准确率提升</a:t>
            </a:r>
            <a:endParaRPr sz="1100"/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4956048" y="4700016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AF1FB"/>
          </a:solidFill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4956048" y="4700016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准确率 +15个百分点</a:t>
            </a:r>
            <a:endParaRPr sz="1150"/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841248" y="527608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投资回收期</a:t>
            </a:r>
            <a:endParaRPr sz="13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2852928" y="527608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一次投入 / 月净人力节省</a:t>
            </a:r>
            <a:endParaRPr sz="1100"/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4956048" y="5321808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AF1FB"/>
          </a:solidFill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4956048" y="5321808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0.2 个月</a:t>
            </a:r>
            <a:endParaRPr sz="1150"/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6739128" y="2148840"/>
            <a:ext cx="488289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01600" dist="38100" dir="5400000" algn="bl" rotWithShape="0">
              <a:srgbClr val="1F2733">
                <a:alpha val="16000"/>
              </a:srgbClr>
            </a:outerShdw>
          </a:effectLst>
        </p:spPr>
      </p:sp>
      <p:sp>
        <p:nvSpPr>
          <p:cNvPr id="30" name="Text 28"/>
          <p:cNvSpPr>
            <a:spLocks noGrp="1"/>
          </p:cNvSpPr>
          <p:nvPr/>
        </p:nvSpPr>
        <p:spPr>
          <a:xfrm>
            <a:off x="6995160" y="2313432"/>
            <a:ext cx="44256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13315C"/>
                </a:solidFill>
                <a:latin typeface="微软雅黑"/>
                <a:ea typeface="微软雅黑"/>
                <a:cs typeface="微软雅黑"/>
              </a:rPr>
              <a:t>人力复核量对比（示意）</a:t>
            </a:r>
            <a:endParaRPr sz="1350"/>
          </a:p>
        </p:txBody>
      </p:sp>
      <p:graphicFrame>
        <p:nvGraphicFramePr>
          <p:cNvPr id="67" name="Chart 0"/>
          <p:cNvGraphicFramePr/>
          <p:nvPr/>
        </p:nvGraphicFramePr>
        <p:xfrm>
          <a:off x="6967728" y="2697480"/>
          <a:ext cx="4425696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2" name="Shape 29"/>
          <p:cNvSpPr>
            <a:spLocks noGrp="1"/>
          </p:cNvSpPr>
          <p:nvPr/>
        </p:nvSpPr>
        <p:spPr>
          <a:xfrm>
            <a:off x="6739128" y="4709160"/>
            <a:ext cx="4882896" cy="1371600"/>
          </a:xfrm>
          <a:prstGeom prst="roundRect">
            <a:avLst>
              <a:gd name="adj" fmla="val 5333"/>
            </a:avLst>
          </a:prstGeom>
          <a:solidFill>
            <a:srgbClr val="13315C"/>
          </a:solidFill>
        </p:spPr>
      </p:sp>
      <p:sp>
        <p:nvSpPr>
          <p:cNvPr id="33" name="Text 30"/>
          <p:cNvSpPr>
            <a:spLocks noGrp="1"/>
          </p:cNvSpPr>
          <p:nvPr/>
        </p:nvSpPr>
        <p:spPr>
          <a:xfrm>
            <a:off x="6995160" y="4846320"/>
            <a:ext cx="442569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人工复核量预计下降 </a:t>
            </a: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65%+</a:t>
            </a: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【预估】</a:t>
            </a:r>
            <a:endParaRPr sz="1400"/>
          </a:p>
        </p:txBody>
      </p:sp>
      <p:sp>
        <p:nvSpPr>
          <p:cNvPr id="34" name="Text 31"/>
          <p:cNvSpPr>
            <a:spLocks noGrp="1"/>
          </p:cNvSpPr>
          <p:nvPr/>
        </p:nvSpPr>
        <p:spPr>
          <a:xfrm>
            <a:off x="6995160" y="5257800"/>
            <a:ext cx="4379976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高置信自动放行 + 分级审批聚焦重大单，人力投入显著下降，投资回收期短。</a:t>
            </a:r>
            <a:endParaRPr sz="1150"/>
          </a:p>
        </p:txBody>
      </p:sp>
      <p:sp>
        <p:nvSpPr>
          <p:cNvPr id="36" name="Text 33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19</a:t>
            </a:r>
            <a:endParaRPr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投产比分析：投入成本明细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覆盖开发人力、Token 调用、批量处理与硬件资源，金额单位为人民币。【预估】</a:t>
            </a:r>
            <a:endParaRPr sz="1200"/>
          </a:p>
        </p:txBody>
      </p:sp>
      <p:graphicFrame>
        <p:nvGraphicFramePr>
          <p:cNvPr id="64" name="Chart 0"/>
          <p:cNvGraphicFramePr/>
          <p:nvPr/>
        </p:nvGraphicFramePr>
        <p:xfrm>
          <a:off x="6967728" y="2697480"/>
          <a:ext cx="4425696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6" name="Text 33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900"/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57200" y="1885950"/>
            <a:ext cx="11277600" cy="426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571500" y="2000250"/>
            <a:ext cx="47625" cy="190500"/>
          </a:xfrm>
          <a:prstGeom prst="rect">
            <a:avLst/>
          </a:prstGeom>
          <a:solidFill>
            <a:srgbClr val="1479C9"/>
          </a:solidFill>
          <a:ln w="0">
            <a:noFill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714375" y="1981200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1.1. 开发人力成本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69" name="表格 68"/>
          <p:cNvGraphicFramePr/>
          <p:nvPr/>
        </p:nvGraphicFramePr>
        <p:xfrm>
          <a:off x="571500" y="2266950"/>
          <a:ext cx="5191125" cy="1143000"/>
        </p:xfrm>
        <a:graphic>
          <a:graphicData uri="http://schemas.openxmlformats.org/drawingml/2006/table">
            <a:tbl>
              <a:tblPr firstRow="1" bandRow="1"/>
              <a:tblGrid>
                <a:gridCol w="2047875"/>
                <a:gridCol w="1000125"/>
                <a:gridCol w="1000125"/>
                <a:gridCol w="1143000"/>
              </a:tblGrid>
              <a:tr h="228600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角色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工时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单价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成本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286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后端开发（Java）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32h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60元/h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1,920元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前端开发（Vue）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15h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60元/h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900元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286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测试 / 压测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13h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60元/h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780元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一次性开发投入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60h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3,600元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42" name="矩形 41"/>
          <p:cNvSpPr>
            <a:spLocks noGrp="1"/>
          </p:cNvSpPr>
          <p:nvPr/>
        </p:nvSpPr>
        <p:spPr>
          <a:xfrm>
            <a:off x="571500" y="3638550"/>
            <a:ext cx="47625" cy="190500"/>
          </a:xfrm>
          <a:prstGeom prst="rect">
            <a:avLst/>
          </a:prstGeom>
          <a:solidFill>
            <a:srgbClr val="179B83"/>
          </a:solidFill>
          <a:ln w="0">
            <a:noFill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14375" y="3619500"/>
            <a:ext cx="5048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1.2. 模型与 Token 成本（单次交互预估）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2" name="表格 71"/>
          <p:cNvGraphicFramePr/>
          <p:nvPr/>
        </p:nvGraphicFramePr>
        <p:xfrm>
          <a:off x="571500" y="3905250"/>
          <a:ext cx="5191125" cy="1847853"/>
        </p:xfrm>
        <a:graphic>
          <a:graphicData uri="http://schemas.openxmlformats.org/drawingml/2006/table">
            <a:tbl>
              <a:tblPr firstRow="1" bandRow="1"/>
              <a:tblGrid>
                <a:gridCol w="1666875"/>
                <a:gridCol w="1000125"/>
                <a:gridCol w="1000125"/>
                <a:gridCol w="762000"/>
                <a:gridCol w="762000"/>
              </a:tblGrid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调用场景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Token 输入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Token 输出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单次成本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频率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意图识别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约1,500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约100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0.03元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每次查询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回复生成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约2,000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约500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0.05元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每次查询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项目名称映射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约1,000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约500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0.03元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每条记录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项目差异对比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约2,000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约300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0.04元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每条记录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单条记录分析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—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—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0.07元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每条记录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97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单次自然语言查询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—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—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0.08元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每次查询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5" name="矩形 44"/>
          <p:cNvSpPr>
            <a:spLocks noGrp="1"/>
          </p:cNvSpPr>
          <p:nvPr/>
        </p:nvSpPr>
        <p:spPr>
          <a:xfrm>
            <a:off x="6191250" y="2000250"/>
            <a:ext cx="47625" cy="190500"/>
          </a:xfrm>
          <a:prstGeom prst="rect">
            <a:avLst/>
          </a:prstGeom>
          <a:solidFill>
            <a:srgbClr val="1479C9"/>
          </a:solidFill>
          <a:ln w="0">
            <a:noFill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334125" y="1981200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1.3. 批量处理成本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5" name="表格 74"/>
          <p:cNvGraphicFramePr/>
          <p:nvPr/>
        </p:nvGraphicFramePr>
        <p:xfrm>
          <a:off x="6191250" y="2266950"/>
          <a:ext cx="5429250" cy="1143000"/>
        </p:xfrm>
        <a:graphic>
          <a:graphicData uri="http://schemas.openxmlformats.org/drawingml/2006/table">
            <a:tbl>
              <a:tblPr firstRow="1" bandRow="1"/>
              <a:tblGrid>
                <a:gridCol w="1571625"/>
                <a:gridCol w="1047750"/>
                <a:gridCol w="1619250"/>
                <a:gridCol w="1190625"/>
              </a:tblGrid>
              <a:tr h="285750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场景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记录数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LLM 调用次数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总成本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857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项目分析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200（映射+对比）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14元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费用计算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100（对比）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4元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857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异常检测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100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100（对比）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4元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矩形 47"/>
          <p:cNvSpPr>
            <a:spLocks noGrp="1"/>
          </p:cNvSpPr>
          <p:nvPr/>
        </p:nvSpPr>
        <p:spPr>
          <a:xfrm>
            <a:off x="6191250" y="3638550"/>
            <a:ext cx="47625" cy="190500"/>
          </a:xfrm>
          <a:prstGeom prst="rect">
            <a:avLst/>
          </a:prstGeom>
          <a:solidFill>
            <a:srgbClr val="179B83"/>
          </a:solidFill>
          <a:ln w="0">
            <a:noFill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6334125" y="3619500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1.4. 月度 Token 成本汇总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8" name="表格 77"/>
          <p:cNvGraphicFramePr/>
          <p:nvPr/>
        </p:nvGraphicFramePr>
        <p:xfrm>
          <a:off x="6191250" y="3905250"/>
          <a:ext cx="5429250" cy="904876"/>
        </p:xfrm>
        <a:graphic>
          <a:graphicData uri="http://schemas.openxmlformats.org/drawingml/2006/table">
            <a:tbl>
              <a:tblPr firstRow="1" bandRow="1"/>
              <a:tblGrid>
                <a:gridCol w="1762125"/>
                <a:gridCol w="2333625"/>
                <a:gridCol w="1333500"/>
              </a:tblGrid>
              <a:tr h="226219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成本项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计算逻辑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月度成本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2621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自然语言查询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500次 / 天 × 单次调用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621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批量分析任务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50次 / 月 × 批量处理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700元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26219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Token 成本小计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1,700元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51" name="矩形 50"/>
          <p:cNvSpPr>
            <a:spLocks noGrp="1"/>
          </p:cNvSpPr>
          <p:nvPr/>
        </p:nvSpPr>
        <p:spPr>
          <a:xfrm>
            <a:off x="6191250" y="5067300"/>
            <a:ext cx="47625" cy="190500"/>
          </a:xfrm>
          <a:prstGeom prst="rect">
            <a:avLst/>
          </a:prstGeom>
          <a:solidFill>
            <a:srgbClr val="E79A25"/>
          </a:solidFill>
          <a:ln w="0">
            <a:noFill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334125" y="5048250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1.5. 硬件资源与月度运营成本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81" name="表格 80"/>
          <p:cNvGraphicFramePr/>
          <p:nvPr/>
        </p:nvGraphicFramePr>
        <p:xfrm>
          <a:off x="6191250" y="5334000"/>
          <a:ext cx="5429250" cy="790576"/>
        </p:xfrm>
        <a:graphic>
          <a:graphicData uri="http://schemas.openxmlformats.org/drawingml/2006/table">
            <a:tbl>
              <a:tblPr firstRow="1" bandRow="1"/>
              <a:tblGrid>
                <a:gridCol w="1619250"/>
                <a:gridCol w="1762125"/>
                <a:gridCol w="904875"/>
                <a:gridCol w="1143000"/>
              </a:tblGrid>
              <a:tr h="197644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组件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配置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数量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月成本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197644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后端 / 前端 / 网关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2核4G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1,150元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7644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PostgreSQL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共享主机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350元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197644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硬件 + Token 月运营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3,200元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566928" y="4572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C6DD0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04672" y="48463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8A33D"/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566928" y="7863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1C6DD0"/>
                </a:solidFill>
                <a:latin typeface="微软雅黑"/>
                <a:ea typeface="微软雅黑"/>
                <a:cs typeface="微软雅黑"/>
              </a:rPr>
              <a:t>PART 04</a:t>
            </a:r>
            <a:endParaRPr sz="12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66928" y="1024128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F2733"/>
                </a:solidFill>
                <a:latin typeface="微软雅黑"/>
                <a:ea typeface="微软雅黑"/>
                <a:cs typeface="微软雅黑"/>
              </a:rPr>
              <a:t>投产比分析：产出效益与 ROI</a:t>
            </a:r>
            <a:endParaRPr sz="30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66928" y="162763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E8A33D"/>
                </a:solidFill>
                <a:latin typeface="微软雅黑"/>
                <a:ea typeface="微软雅黑"/>
                <a:cs typeface="微软雅黑"/>
              </a:rPr>
              <a:t>聚焦效率、人工成本、质量价值与年度收益，金额单位为人民币。【预估】</a:t>
            </a:r>
            <a:endParaRPr sz="1200"/>
          </a:p>
        </p:txBody>
      </p:sp>
      <p:graphicFrame>
        <p:nvGraphicFramePr>
          <p:cNvPr id="64" name="Chart 0"/>
          <p:cNvGraphicFramePr/>
          <p:nvPr/>
        </p:nvGraphicFramePr>
        <p:xfrm>
          <a:off x="6967728" y="2697480"/>
          <a:ext cx="4425696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6" name="Text 33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900"/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57200" y="1885950"/>
            <a:ext cx="11277600" cy="426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571500" y="2000250"/>
            <a:ext cx="47625" cy="190500"/>
          </a:xfrm>
          <a:prstGeom prst="rect">
            <a:avLst/>
          </a:prstGeom>
          <a:solidFill>
            <a:srgbClr val="1479C9"/>
          </a:solidFill>
          <a:ln w="0">
            <a:noFill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714375" y="1981200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2.1. 效率提升对比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69" name="表格 68"/>
          <p:cNvGraphicFramePr/>
          <p:nvPr/>
        </p:nvGraphicFramePr>
        <p:xfrm>
          <a:off x="571500" y="2266950"/>
          <a:ext cx="11049000" cy="1447800"/>
        </p:xfrm>
        <a:graphic>
          <a:graphicData uri="http://schemas.openxmlformats.org/drawingml/2006/table">
            <a:tbl>
              <a:tblPr firstRow="1" bandRow="1"/>
              <a:tblGrid>
                <a:gridCol w="2476500"/>
                <a:gridCol w="2571750"/>
                <a:gridCol w="2571750"/>
                <a:gridCol w="3429000"/>
              </a:tblGrid>
              <a:tr h="289560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指标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改进前（人工）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改进后（AI系统）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提升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8956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单件处理时间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0.5～1小时（1,800～3,600秒）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30秒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60～120倍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异常发现周期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1～2个月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60秒（实时）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月级→分钟级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8956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日处理量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8～16件 / 日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1,000件 / 日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6～121倍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模型准确率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80%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95%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提升15个百分点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2" name="矩形 41"/>
          <p:cNvSpPr>
            <a:spLocks noGrp="1"/>
          </p:cNvSpPr>
          <p:nvPr/>
        </p:nvSpPr>
        <p:spPr>
          <a:xfrm>
            <a:off x="571500" y="4067175"/>
            <a:ext cx="47625" cy="190500"/>
          </a:xfrm>
          <a:prstGeom prst="rect">
            <a:avLst/>
          </a:prstGeom>
          <a:solidFill>
            <a:srgbClr val="179B83"/>
          </a:solidFill>
          <a:ln w="0">
            <a:noFill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14375" y="40481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2.2. 人力成本节省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2" name="表格 71"/>
          <p:cNvGraphicFramePr/>
          <p:nvPr/>
        </p:nvGraphicFramePr>
        <p:xfrm>
          <a:off x="571500" y="4333875"/>
          <a:ext cx="5238750" cy="952500"/>
        </p:xfrm>
        <a:graphic>
          <a:graphicData uri="http://schemas.openxmlformats.org/drawingml/2006/table">
            <a:tbl>
              <a:tblPr firstRow="1" bandRow="1"/>
              <a:tblGrid>
                <a:gridCol w="1571625"/>
                <a:gridCol w="1238250"/>
                <a:gridCol w="1285875"/>
                <a:gridCol w="1143000"/>
              </a:tblGrid>
              <a:tr h="23812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核保场景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原需人力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现需人力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月节约金额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381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费用核对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3～5人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1人（仅复核）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14,000元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81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异常监测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1人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0人（自动）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4,000元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381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合计月节省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—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18,000元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45" name="矩形 44"/>
          <p:cNvSpPr>
            <a:spLocks noGrp="1"/>
          </p:cNvSpPr>
          <p:nvPr/>
        </p:nvSpPr>
        <p:spPr>
          <a:xfrm>
            <a:off x="571500" y="5591175"/>
            <a:ext cx="47625" cy="190500"/>
          </a:xfrm>
          <a:prstGeom prst="rect">
            <a:avLst/>
          </a:prstGeom>
          <a:solidFill>
            <a:srgbClr val="179B83"/>
          </a:solidFill>
          <a:ln w="0">
            <a:noFill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14375" y="55721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2.3. 质量收益评估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5" name="表格 74"/>
          <p:cNvGraphicFramePr/>
          <p:nvPr/>
        </p:nvGraphicFramePr>
        <p:xfrm>
          <a:off x="571500" y="5857875"/>
          <a:ext cx="5238750" cy="590550"/>
        </p:xfrm>
        <a:graphic>
          <a:graphicData uri="http://schemas.openxmlformats.org/drawingml/2006/table">
            <a:tbl>
              <a:tblPr firstRow="1" bandRow="1"/>
              <a:tblGrid>
                <a:gridCol w="1476375"/>
                <a:gridCol w="2047875"/>
                <a:gridCol w="1714500"/>
              </a:tblGrid>
              <a:tr h="196850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效益项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说明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价值评估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1968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费率计算准确率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80%提升至95%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提升15个百分点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8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异常实时发现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月级缩短至分钟级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降低漏判风险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8" name="矩形 47"/>
          <p:cNvSpPr>
            <a:spLocks noGrp="1"/>
          </p:cNvSpPr>
          <p:nvPr/>
        </p:nvSpPr>
        <p:spPr>
          <a:xfrm>
            <a:off x="6191250" y="4067175"/>
            <a:ext cx="47625" cy="190500"/>
          </a:xfrm>
          <a:prstGeom prst="rect">
            <a:avLst/>
          </a:prstGeom>
          <a:solidFill>
            <a:srgbClr val="E79A25"/>
          </a:solidFill>
          <a:ln w="0">
            <a:noFill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6334125" y="40481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3.1. ROI 计算（按月）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78" name="表格 77"/>
          <p:cNvGraphicFramePr/>
          <p:nvPr/>
        </p:nvGraphicFramePr>
        <p:xfrm>
          <a:off x="6191250" y="4333875"/>
          <a:ext cx="5429250" cy="1200150"/>
        </p:xfrm>
        <a:graphic>
          <a:graphicData uri="http://schemas.openxmlformats.org/drawingml/2006/table">
            <a:tbl>
              <a:tblPr firstRow="1" bandRow="1"/>
              <a:tblGrid>
                <a:gridCol w="1762125"/>
                <a:gridCol w="1476375"/>
                <a:gridCol w="2190750"/>
              </a:tblGrid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项目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金额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计算依据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一次性投入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3,600元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开发人力成本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月度运营成本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3,200元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1,500元硬件 + 1,700元Token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月度收益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21,000元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18,000元人力 + 3,000元质量收益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月度净收益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17,800元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收益 − 运营成本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20002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运营 ROI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556%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月度净收益 ÷ 运营成本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51" name="矩形 50"/>
          <p:cNvSpPr>
            <a:spLocks noGrp="1"/>
          </p:cNvSpPr>
          <p:nvPr/>
        </p:nvSpPr>
        <p:spPr>
          <a:xfrm>
            <a:off x="6191250" y="5591175"/>
            <a:ext cx="47625" cy="190500"/>
          </a:xfrm>
          <a:prstGeom prst="rect">
            <a:avLst/>
          </a:prstGeom>
          <a:solidFill>
            <a:srgbClr val="E79A25"/>
          </a:solidFill>
          <a:ln w="0">
            <a:noFill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334125" y="55721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53472"/>
          </a:bodyPr>
          <a:lstStyle/>
          <a:p>
            <a:pPr>
              <a:buNone/>
              <a:defRPr b="1">
                <a:solidFill>
                  <a:srgbClr val="113B68"/>
                </a:solidFill>
              </a:defRPr>
            </a:pPr>
            <a:r>
              <a:rPr b="1">
                <a:solidFill>
                  <a:srgbClr val="113B68"/>
                </a:solidFill>
              </a:rPr>
              <a:t>3.2. 年度收益预测</a:t>
            </a:r>
            <a:endParaRPr b="1">
              <a:solidFill>
                <a:srgbClr val="113B68"/>
              </a:solidFill>
            </a:endParaRPr>
          </a:p>
        </p:txBody>
      </p:sp>
      <p:graphicFrame>
        <p:nvGraphicFramePr>
          <p:cNvPr id="81" name="表格 80"/>
          <p:cNvGraphicFramePr/>
          <p:nvPr/>
        </p:nvGraphicFramePr>
        <p:xfrm>
          <a:off x="6191250" y="5857875"/>
          <a:ext cx="5429250" cy="666752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1238250"/>
                <a:gridCol w="1619250"/>
                <a:gridCol w="1619250"/>
              </a:tblGrid>
              <a:tr h="166688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年度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累计投入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累计收益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790" b="1">
                          <a:solidFill>
                            <a:srgbClr val="113B68"/>
                          </a:solidFill>
                        </a:rPr>
                        <a:t>累计净收益</a:t>
                      </a:r>
                      <a:endParaRPr sz="790" b="1">
                        <a:solidFill>
                          <a:srgbClr val="113B68"/>
                        </a:solidFill>
                      </a:endParaRPr>
                    </a:p>
                  </a:txBody>
                  <a:tcPr>
                    <a:solidFill>
                      <a:srgbClr val="E3EFFA"/>
                    </a:solidFill>
                  </a:tcPr>
                </a:tc>
              </a:tr>
              <a:tr h="16668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第1年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42,000元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252,000元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210,000元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68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第2年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38,400元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252,000元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>
                          <a:solidFill>
                            <a:srgbClr val="34495E"/>
                          </a:solidFill>
                        </a:rPr>
                        <a:t>213,600元</a:t>
                      </a:r>
                      <a:endParaRPr sz="695">
                        <a:solidFill>
                          <a:srgbClr val="34495E"/>
                        </a:solidFill>
                      </a:endParaRPr>
                    </a:p>
                  </a:txBody>
                  <a:tcPr>
                    <a:solidFill>
                      <a:srgbClr val="F7FAFD"/>
                    </a:solidFill>
                  </a:tcPr>
                </a:tc>
              </a:tr>
              <a:tr h="16668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2年合计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80,400元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504,000元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695" b="1">
                          <a:solidFill>
                            <a:srgbClr val="087A3F"/>
                          </a:solidFill>
                        </a:rPr>
                        <a:t>423,600元</a:t>
                      </a:r>
                      <a:endParaRPr sz="695" b="1">
                        <a:solidFill>
                          <a:srgbClr val="087A3F"/>
                        </a:solidFill>
                      </a:endParaRP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1C6DD0">
              <a:alpha val="24000"/>
            </a:srgbClr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9601200" y="-1463040"/>
            <a:ext cx="4206240" cy="4206240"/>
          </a:xfrm>
          <a:prstGeom prst="ellipse">
            <a:avLst/>
          </a:prstGeom>
          <a:solidFill>
            <a:srgbClr val="2E86DE">
              <a:alpha val="20000"/>
            </a:srgbClr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开启智能核保新篇章</a:t>
            </a:r>
            <a:endParaRPr sz="44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0" y="3383280"/>
            <a:ext cx="1218895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AI + 规则引擎双引擎  ·  分级审批  ·  可解释可追溯  ·  越用越准</a:t>
            </a:r>
            <a:endParaRPr sz="16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0" y="4297680"/>
            <a:ext cx="1218895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0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感谢聆听 · 敬请指正</a:t>
            </a:r>
            <a:endParaRPr sz="1500"/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566928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保险核保智能分级系统</a:t>
            </a:r>
            <a:endParaRPr sz="900"/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AAB4C2"/>
                </a:solidFill>
                <a:latin typeface="微软雅黑"/>
                <a:ea typeface="微软雅黑"/>
                <a:cs typeface="微软雅黑"/>
              </a:rPr>
              <a:t>22</a:t>
            </a:r>
            <a:endParaRPr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5242</Words>
  <Application>WPS 演示</Application>
  <PresentationFormat>Converted Presentation</PresentationFormat>
  <Paragraphs>1186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0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微软雅黑</vt:lpstr>
      <vt:lpstr>宋体</vt:lpstr>
      <vt:lpstr>Arial Unicode MS</vt:lpstr>
      <vt:lpstr>汉仪书宋二KW</vt:lpstr>
      <vt:lpstr>等线</vt:lpstr>
      <vt:lpstr>汉仪中等线KW</vt:lpstr>
      <vt:lpstr>微软雅黑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大西布</cp:lastModifiedBy>
  <cp:revision>10</cp:revision>
  <dcterms:created xsi:type="dcterms:W3CDTF">2026-09-21T01:17:34Z</dcterms:created>
  <dcterms:modified xsi:type="dcterms:W3CDTF">2026-09-21T01:17:34Z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31B20BD03DB4BA32F6CAAF6AC7EDA8F6_42</vt:lpwstr>
  </property>
  <property fmtid="{D5CDD505-2E9C-101B-9397-08002B2CF9AE}" pid="3" name="KSOProductBuildVer">
    <vt:lpwstr>2052-12.1.25869.25869</vt:lpwstr>
  </property>
</Properties>
</file>